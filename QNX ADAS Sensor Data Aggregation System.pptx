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chivo Black" charset="1" panose="020B0A03020202020B04"/>
      <p:regular r:id="rId19"/>
    </p:embeddedFont>
    <p:embeddedFont>
      <p:font typeface="Ubuntu" charset="1" panose="020B0504030602030204"/>
      <p:regular r:id="rId20"/>
    </p:embeddedFont>
    <p:embeddedFont>
      <p:font typeface="Ubuntu Bold" charset="1" panose="020B0804030602030204"/>
      <p:regular r:id="rId21"/>
    </p:embeddedFont>
    <p:embeddedFont>
      <p:font typeface="League Spartan" charset="1" panose="00000800000000000000"/>
      <p:regular r:id="rId22"/>
    </p:embeddedFont>
    <p:embeddedFont>
      <p:font typeface="Glacial Indifference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5.png" Type="http://schemas.openxmlformats.org/officeDocument/2006/relationships/image"/><Relationship Id="rId4" Target="../media/image1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https://github.com/pavanracharya/Q-eHack-2026/tree/main/OUTPUTS"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AutoShape 3" id="3"/>
          <p:cNvSpPr/>
          <p:nvPr/>
        </p:nvSpPr>
        <p:spPr>
          <a:xfrm>
            <a:off x="7880456" y="4404445"/>
            <a:ext cx="3246120" cy="0"/>
          </a:xfrm>
          <a:prstGeom prst="line">
            <a:avLst/>
          </a:prstGeom>
          <a:ln cap="flat" w="95250">
            <a:solidFill>
              <a:srgbClr val="FFFFFF"/>
            </a:solidFill>
            <a:prstDash val="solid"/>
            <a:headEnd type="none" len="sm" w="sm"/>
            <a:tailEnd type="none" len="sm" w="sm"/>
          </a:ln>
        </p:spPr>
      </p:sp>
      <p:sp>
        <p:nvSpPr>
          <p:cNvPr name="AutoShape 4" id="4"/>
          <p:cNvSpPr/>
          <p:nvPr/>
        </p:nvSpPr>
        <p:spPr>
          <a:xfrm>
            <a:off x="7742167" y="1724681"/>
            <a:ext cx="3246120" cy="0"/>
          </a:xfrm>
          <a:prstGeom prst="line">
            <a:avLst/>
          </a:prstGeom>
          <a:ln cap="flat" w="95250">
            <a:solidFill>
              <a:srgbClr val="FFFFFF"/>
            </a:solidFill>
            <a:prstDash val="solid"/>
            <a:headEnd type="none" len="sm" w="sm"/>
            <a:tailEnd type="none" len="sm" w="sm"/>
          </a:ln>
        </p:spPr>
      </p:sp>
      <p:sp>
        <p:nvSpPr>
          <p:cNvPr name="Freeform 5" id="5"/>
          <p:cNvSpPr/>
          <p:nvPr/>
        </p:nvSpPr>
        <p:spPr>
          <a:xfrm flipH="false" flipV="false" rot="0">
            <a:off x="7520940" y="247044"/>
            <a:ext cx="3965153" cy="1125212"/>
          </a:xfrm>
          <a:custGeom>
            <a:avLst/>
            <a:gdLst/>
            <a:ahLst/>
            <a:cxnLst/>
            <a:rect r="r" b="b" t="t" l="l"/>
            <a:pathLst>
              <a:path h="1125212" w="3965153">
                <a:moveTo>
                  <a:pt x="0" y="0"/>
                </a:moveTo>
                <a:lnTo>
                  <a:pt x="3965153" y="0"/>
                </a:lnTo>
                <a:lnTo>
                  <a:pt x="3965153" y="1125212"/>
                </a:lnTo>
                <a:lnTo>
                  <a:pt x="0" y="1125212"/>
                </a:lnTo>
                <a:lnTo>
                  <a:pt x="0" y="0"/>
                </a:lnTo>
                <a:close/>
              </a:path>
            </a:pathLst>
          </a:custGeom>
          <a:blipFill>
            <a:blip r:embed="rId3"/>
            <a:stretch>
              <a:fillRect l="0" t="-110822" r="0" b="-354134"/>
            </a:stretch>
          </a:blipFill>
        </p:spPr>
      </p:sp>
      <p:sp>
        <p:nvSpPr>
          <p:cNvPr name="TextBox 6" id="6"/>
          <p:cNvSpPr txBox="true"/>
          <p:nvPr/>
        </p:nvSpPr>
        <p:spPr>
          <a:xfrm rot="0">
            <a:off x="1035945" y="1743731"/>
            <a:ext cx="16658564" cy="1922498"/>
          </a:xfrm>
          <a:prstGeom prst="rect">
            <a:avLst/>
          </a:prstGeom>
        </p:spPr>
        <p:txBody>
          <a:bodyPr anchor="t" rtlCol="false" tIns="0" lIns="0" bIns="0" rIns="0">
            <a:spAutoFit/>
          </a:bodyPr>
          <a:lstStyle/>
          <a:p>
            <a:pPr algn="ctr" marL="0" indent="0" lvl="0">
              <a:lnSpc>
                <a:spcPts val="7713"/>
              </a:lnSpc>
            </a:pPr>
            <a:r>
              <a:rPr lang="en-US" sz="5509" spc="110">
                <a:solidFill>
                  <a:srgbClr val="FFFFFF"/>
                </a:solidFill>
                <a:latin typeface="Archivo Black"/>
                <a:ea typeface="Archivo Black"/>
                <a:cs typeface="Archivo Black"/>
                <a:sym typeface="Archivo Black"/>
              </a:rPr>
              <a:t>QNX ADAS: SENSOR DATA AGGREGATION SYSTEM</a:t>
            </a:r>
          </a:p>
        </p:txBody>
      </p:sp>
      <p:sp>
        <p:nvSpPr>
          <p:cNvPr name="TextBox 7" id="7"/>
          <p:cNvSpPr txBox="true"/>
          <p:nvPr/>
        </p:nvSpPr>
        <p:spPr>
          <a:xfrm rot="0">
            <a:off x="2682962" y="3685279"/>
            <a:ext cx="13364530" cy="366741"/>
          </a:xfrm>
          <a:prstGeom prst="rect">
            <a:avLst/>
          </a:prstGeom>
        </p:spPr>
        <p:txBody>
          <a:bodyPr anchor="t" rtlCol="false" tIns="0" lIns="0" bIns="0" rIns="0">
            <a:spAutoFit/>
          </a:bodyPr>
          <a:lstStyle/>
          <a:p>
            <a:pPr algn="ctr" marL="0" indent="0" lvl="0">
              <a:lnSpc>
                <a:spcPts val="2972"/>
              </a:lnSpc>
            </a:pPr>
            <a:r>
              <a:rPr lang="en-US" sz="2008" spc="803">
                <a:solidFill>
                  <a:srgbClr val="FFFFFF"/>
                </a:solidFill>
                <a:latin typeface="Ubuntu"/>
                <a:ea typeface="Ubuntu"/>
                <a:cs typeface="Ubuntu"/>
                <a:sym typeface="Ubuntu"/>
              </a:rPr>
              <a:t>TEAM NAME</a:t>
            </a:r>
            <a:r>
              <a:rPr lang="en-US" sz="2008" spc="803">
                <a:solidFill>
                  <a:srgbClr val="FFFFFF"/>
                </a:solidFill>
                <a:latin typeface="Ubuntu"/>
                <a:ea typeface="Ubuntu"/>
                <a:cs typeface="Ubuntu"/>
                <a:sym typeface="Ubuntu"/>
              </a:rPr>
              <a:t> | ONE PERCENT</a:t>
            </a:r>
          </a:p>
        </p:txBody>
      </p:sp>
      <p:sp>
        <p:nvSpPr>
          <p:cNvPr name="TextBox 8" id="8"/>
          <p:cNvSpPr txBox="true"/>
          <p:nvPr/>
        </p:nvSpPr>
        <p:spPr>
          <a:xfrm rot="0">
            <a:off x="5732237" y="9494408"/>
            <a:ext cx="7265979" cy="366799"/>
          </a:xfrm>
          <a:prstGeom prst="rect">
            <a:avLst/>
          </a:prstGeom>
        </p:spPr>
        <p:txBody>
          <a:bodyPr anchor="t" rtlCol="false" tIns="0" lIns="0" bIns="0" rIns="0">
            <a:spAutoFit/>
          </a:bodyPr>
          <a:lstStyle/>
          <a:p>
            <a:pPr algn="ctr" marL="0" indent="0" lvl="0">
              <a:lnSpc>
                <a:spcPts val="2969"/>
              </a:lnSpc>
            </a:pPr>
            <a:r>
              <a:rPr lang="en-US" sz="2006" spc="200">
                <a:solidFill>
                  <a:srgbClr val="FFFFFF"/>
                </a:solidFill>
                <a:latin typeface="Ubuntu"/>
                <a:ea typeface="Ubuntu"/>
                <a:cs typeface="Ubuntu"/>
                <a:sym typeface="Ubuntu"/>
              </a:rPr>
              <a:t>The National Institue of Engineering</a:t>
            </a:r>
          </a:p>
        </p:txBody>
      </p:sp>
      <p:sp>
        <p:nvSpPr>
          <p:cNvPr name="TextBox 9" id="9"/>
          <p:cNvSpPr txBox="true"/>
          <p:nvPr/>
        </p:nvSpPr>
        <p:spPr>
          <a:xfrm rot="0">
            <a:off x="2461735" y="8891559"/>
            <a:ext cx="13364530" cy="366741"/>
          </a:xfrm>
          <a:prstGeom prst="rect">
            <a:avLst/>
          </a:prstGeom>
        </p:spPr>
        <p:txBody>
          <a:bodyPr anchor="t" rtlCol="false" tIns="0" lIns="0" bIns="0" rIns="0">
            <a:spAutoFit/>
          </a:bodyPr>
          <a:lstStyle/>
          <a:p>
            <a:pPr algn="ctr" marL="0" indent="0" lvl="0">
              <a:lnSpc>
                <a:spcPts val="2972"/>
              </a:lnSpc>
            </a:pPr>
            <a:r>
              <a:rPr lang="en-US" sz="2008" spc="803">
                <a:solidFill>
                  <a:srgbClr val="FFFFFF"/>
                </a:solidFill>
                <a:latin typeface="Ubuntu"/>
                <a:ea typeface="Ubuntu"/>
                <a:cs typeface="Ubuntu"/>
                <a:sym typeface="Ubuntu"/>
              </a:rPr>
              <a:t>TEAM MEMBERS: PAVAN R|B MANIKANTA|RANADHEER VARMA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TextBox 3" id="3"/>
          <p:cNvSpPr txBox="true"/>
          <p:nvPr/>
        </p:nvSpPr>
        <p:spPr>
          <a:xfrm rot="0">
            <a:off x="6074770" y="4938549"/>
            <a:ext cx="2755263" cy="419427"/>
          </a:xfrm>
          <a:prstGeom prst="rect">
            <a:avLst/>
          </a:prstGeom>
        </p:spPr>
        <p:txBody>
          <a:bodyPr anchor="t" rtlCol="false" tIns="0" lIns="0" bIns="0" rIns="0">
            <a:spAutoFit/>
          </a:bodyPr>
          <a:lstStyle/>
          <a:p>
            <a:pPr algn="l" marL="0" indent="0" lvl="0">
              <a:lnSpc>
                <a:spcPts val="3186"/>
              </a:lnSpc>
            </a:pPr>
            <a:r>
              <a:rPr lang="en-US" b="true" sz="2844" spc="142">
                <a:solidFill>
                  <a:srgbClr val="FFFFFF"/>
                </a:solidFill>
                <a:latin typeface="Ubuntu Bold"/>
                <a:ea typeface="Ubuntu Bold"/>
                <a:cs typeface="Ubuntu Bold"/>
                <a:sym typeface="Ubuntu Bold"/>
              </a:rPr>
              <a:t>THE PROBLEM</a:t>
            </a:r>
          </a:p>
        </p:txBody>
      </p:sp>
      <p:sp>
        <p:nvSpPr>
          <p:cNvPr name="TextBox 4" id="4"/>
          <p:cNvSpPr txBox="true"/>
          <p:nvPr/>
        </p:nvSpPr>
        <p:spPr>
          <a:xfrm rot="0">
            <a:off x="9390107" y="4938549"/>
            <a:ext cx="3264238" cy="419427"/>
          </a:xfrm>
          <a:prstGeom prst="rect">
            <a:avLst/>
          </a:prstGeom>
        </p:spPr>
        <p:txBody>
          <a:bodyPr anchor="t" rtlCol="false" tIns="0" lIns="0" bIns="0" rIns="0">
            <a:spAutoFit/>
          </a:bodyPr>
          <a:lstStyle/>
          <a:p>
            <a:pPr algn="l" marL="0" indent="0" lvl="0">
              <a:lnSpc>
                <a:spcPts val="3186"/>
              </a:lnSpc>
            </a:pPr>
            <a:r>
              <a:rPr lang="en-US" b="true" sz="2844" spc="142">
                <a:solidFill>
                  <a:srgbClr val="FFFFFF"/>
                </a:solidFill>
                <a:latin typeface="Ubuntu Bold"/>
                <a:ea typeface="Ubuntu Bold"/>
                <a:cs typeface="Ubuntu Bold"/>
                <a:sym typeface="Ubuntu Bold"/>
              </a:rPr>
              <a:t>THE SOLUTION</a:t>
            </a:r>
          </a:p>
        </p:txBody>
      </p:sp>
      <p:sp>
        <p:nvSpPr>
          <p:cNvPr name="TextBox 5" id="5"/>
          <p:cNvSpPr txBox="true"/>
          <p:nvPr/>
        </p:nvSpPr>
        <p:spPr>
          <a:xfrm rot="0">
            <a:off x="1704820" y="5634880"/>
            <a:ext cx="6528477" cy="3200891"/>
          </a:xfrm>
          <a:prstGeom prst="rect">
            <a:avLst/>
          </a:prstGeom>
        </p:spPr>
        <p:txBody>
          <a:bodyPr anchor="t" rtlCol="false" tIns="0" lIns="0" bIns="0" rIns="0">
            <a:spAutoFit/>
          </a:bodyPr>
          <a:lstStyle/>
          <a:p>
            <a:pPr algn="just" marL="0" indent="0" lvl="0">
              <a:lnSpc>
                <a:spcPts val="3647"/>
              </a:lnSpc>
              <a:spcBef>
                <a:spcPct val="0"/>
              </a:spcBef>
            </a:pPr>
            <a:r>
              <a:rPr lang="en-US" sz="2605" spc="52">
                <a:solidFill>
                  <a:srgbClr val="FFFFFF"/>
                </a:solidFill>
                <a:latin typeface="Ubuntu"/>
                <a:ea typeface="Ubuntu"/>
                <a:cs typeface="Ubuntu"/>
                <a:sym typeface="Ubuntu"/>
              </a:rPr>
              <a:t>100 sensors saturate a generic bus architecture, causing dangerous latency and jitter. Data packets collide and stack, creating a chaotic red fog of uncertainty. The Jitter Meter spikes into the critical red zone—unacceptable for safety-critical autonomous systems.</a:t>
            </a:r>
          </a:p>
        </p:txBody>
      </p:sp>
      <p:sp>
        <p:nvSpPr>
          <p:cNvPr name="TextBox 6" id="6"/>
          <p:cNvSpPr txBox="true"/>
          <p:nvPr/>
        </p:nvSpPr>
        <p:spPr>
          <a:xfrm rot="0">
            <a:off x="10009884" y="5634880"/>
            <a:ext cx="6528477" cy="3200891"/>
          </a:xfrm>
          <a:prstGeom prst="rect">
            <a:avLst/>
          </a:prstGeom>
        </p:spPr>
        <p:txBody>
          <a:bodyPr anchor="t" rtlCol="false" tIns="0" lIns="0" bIns="0" rIns="0">
            <a:spAutoFit/>
          </a:bodyPr>
          <a:lstStyle/>
          <a:p>
            <a:pPr algn="just" marL="0" indent="0" lvl="0">
              <a:lnSpc>
                <a:spcPts val="3647"/>
              </a:lnSpc>
              <a:spcBef>
                <a:spcPct val="0"/>
              </a:spcBef>
            </a:pPr>
            <a:r>
              <a:rPr lang="en-US" sz="2605" spc="52">
                <a:solidFill>
                  <a:srgbClr val="FFFFFF"/>
                </a:solidFill>
                <a:latin typeface="Ubuntu"/>
                <a:ea typeface="Ubuntu"/>
                <a:cs typeface="Ubuntu"/>
                <a:sym typeface="Ubuntu"/>
              </a:rPr>
              <a:t>Deterministic, partitioned scaling via zonal architecture. Data packets are sorted into four synchronized cyan streams flowing smoothly through dedicated zones. The Jitter Meter drops into the green zone with &lt;5ns jitter—predictable, reliable, safe.</a:t>
            </a:r>
          </a:p>
        </p:txBody>
      </p:sp>
      <p:sp>
        <p:nvSpPr>
          <p:cNvPr name="TextBox 7" id="7"/>
          <p:cNvSpPr txBox="true"/>
          <p:nvPr/>
        </p:nvSpPr>
        <p:spPr>
          <a:xfrm rot="0">
            <a:off x="408923" y="389873"/>
            <a:ext cx="17596382" cy="2419350"/>
          </a:xfrm>
          <a:prstGeom prst="rect">
            <a:avLst/>
          </a:prstGeom>
        </p:spPr>
        <p:txBody>
          <a:bodyPr anchor="t" rtlCol="false" tIns="0" lIns="0" bIns="0" rIns="0">
            <a:spAutoFit/>
          </a:bodyPr>
          <a:lstStyle/>
          <a:p>
            <a:pPr algn="ctr" marL="0" indent="0" lvl="0">
              <a:lnSpc>
                <a:spcPts val="9502"/>
              </a:lnSpc>
              <a:spcBef>
                <a:spcPct val="0"/>
              </a:spcBef>
            </a:pPr>
            <a:r>
              <a:rPr lang="en-US" sz="7918" spc="158">
                <a:solidFill>
                  <a:srgbClr val="FFFFFF"/>
                </a:solidFill>
                <a:latin typeface="Archivo Black"/>
                <a:ea typeface="Archivo Black"/>
                <a:cs typeface="Archivo Black"/>
                <a:sym typeface="Archivo Black"/>
              </a:rPr>
              <a:t>THE "DATA TSUNAMI" &amp; LATENCY RISK</a:t>
            </a:r>
          </a:p>
        </p:txBody>
      </p:sp>
      <p:sp>
        <p:nvSpPr>
          <p:cNvPr name="AutoShape 8" id="8"/>
          <p:cNvSpPr/>
          <p:nvPr/>
        </p:nvSpPr>
        <p:spPr>
          <a:xfrm>
            <a:off x="7520940" y="2856848"/>
            <a:ext cx="3246120" cy="0"/>
          </a:xfrm>
          <a:prstGeom prst="line">
            <a:avLst/>
          </a:prstGeom>
          <a:ln cap="flat" w="95250">
            <a:solidFill>
              <a:srgbClr val="FFFFFF"/>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1028700" y="4277753"/>
            <a:ext cx="5088344" cy="4980547"/>
            <a:chOff x="0" y="0"/>
            <a:chExt cx="1131733" cy="1107757"/>
          </a:xfrm>
        </p:grpSpPr>
        <p:sp>
          <p:nvSpPr>
            <p:cNvPr name="Freeform 4" id="4"/>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222548"/>
            </a:solidFill>
            <a:ln cap="sq">
              <a:noFill/>
              <a:prstDash val="solid"/>
              <a:miter/>
            </a:ln>
          </p:spPr>
        </p:sp>
        <p:sp>
          <p:nvSpPr>
            <p:cNvPr name="TextBox 5" id="5"/>
            <p:cNvSpPr txBox="true"/>
            <p:nvPr/>
          </p:nvSpPr>
          <p:spPr>
            <a:xfrm>
              <a:off x="0" y="-57150"/>
              <a:ext cx="1131733" cy="1164907"/>
            </a:xfrm>
            <a:prstGeom prst="rect">
              <a:avLst/>
            </a:prstGeom>
          </p:spPr>
          <p:txBody>
            <a:bodyPr anchor="ctr" rtlCol="false" tIns="50800" lIns="50800" bIns="50800" rIns="50800"/>
            <a:lstStyle/>
            <a:p>
              <a:pPr algn="ctr" marL="0" indent="0" lvl="0">
                <a:lnSpc>
                  <a:spcPts val="2605"/>
                </a:lnSpc>
              </a:pPr>
            </a:p>
          </p:txBody>
        </p:sp>
      </p:grpSp>
      <p:grpSp>
        <p:nvGrpSpPr>
          <p:cNvPr name="Group 6" id="6"/>
          <p:cNvGrpSpPr/>
          <p:nvPr/>
        </p:nvGrpSpPr>
        <p:grpSpPr>
          <a:xfrm rot="0">
            <a:off x="6597615" y="4277753"/>
            <a:ext cx="5088344" cy="4980547"/>
            <a:chOff x="0" y="0"/>
            <a:chExt cx="1131733" cy="1107757"/>
          </a:xfrm>
        </p:grpSpPr>
        <p:sp>
          <p:nvSpPr>
            <p:cNvPr name="Freeform 7" id="7"/>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222548"/>
            </a:solidFill>
            <a:ln cap="sq">
              <a:noFill/>
              <a:prstDash val="solid"/>
              <a:miter/>
            </a:ln>
          </p:spPr>
        </p:sp>
        <p:sp>
          <p:nvSpPr>
            <p:cNvPr name="TextBox 8" id="8"/>
            <p:cNvSpPr txBox="true"/>
            <p:nvPr/>
          </p:nvSpPr>
          <p:spPr>
            <a:xfrm>
              <a:off x="0" y="-57150"/>
              <a:ext cx="1131733" cy="1164907"/>
            </a:xfrm>
            <a:prstGeom prst="rect">
              <a:avLst/>
            </a:prstGeom>
          </p:spPr>
          <p:txBody>
            <a:bodyPr anchor="ctr" rtlCol="false" tIns="50800" lIns="50800" bIns="50800" rIns="50800"/>
            <a:lstStyle/>
            <a:p>
              <a:pPr algn="ctr" marL="0" indent="0" lvl="0">
                <a:lnSpc>
                  <a:spcPts val="2605"/>
                </a:lnSpc>
              </a:pPr>
            </a:p>
          </p:txBody>
        </p:sp>
      </p:grpSp>
      <p:grpSp>
        <p:nvGrpSpPr>
          <p:cNvPr name="Group 9" id="9"/>
          <p:cNvGrpSpPr/>
          <p:nvPr/>
        </p:nvGrpSpPr>
        <p:grpSpPr>
          <a:xfrm rot="0">
            <a:off x="12170956" y="4277753"/>
            <a:ext cx="5088344" cy="4980547"/>
            <a:chOff x="0" y="0"/>
            <a:chExt cx="1131733" cy="1107757"/>
          </a:xfrm>
        </p:grpSpPr>
        <p:sp>
          <p:nvSpPr>
            <p:cNvPr name="Freeform 10" id="10"/>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222548"/>
            </a:solidFill>
            <a:ln cap="sq">
              <a:noFill/>
              <a:prstDash val="solid"/>
              <a:miter/>
            </a:ln>
          </p:spPr>
        </p:sp>
        <p:sp>
          <p:nvSpPr>
            <p:cNvPr name="TextBox 11" id="11"/>
            <p:cNvSpPr txBox="true"/>
            <p:nvPr/>
          </p:nvSpPr>
          <p:spPr>
            <a:xfrm>
              <a:off x="0" y="-57150"/>
              <a:ext cx="1131733" cy="1164907"/>
            </a:xfrm>
            <a:prstGeom prst="rect">
              <a:avLst/>
            </a:prstGeom>
          </p:spPr>
          <p:txBody>
            <a:bodyPr anchor="ctr" rtlCol="false" tIns="50800" lIns="50800" bIns="50800" rIns="50800"/>
            <a:lstStyle/>
            <a:p>
              <a:pPr algn="ctr" marL="0" indent="0" lvl="0">
                <a:lnSpc>
                  <a:spcPts val="2605"/>
                </a:lnSpc>
              </a:pPr>
            </a:p>
          </p:txBody>
        </p:sp>
      </p:grpSp>
      <p:sp>
        <p:nvSpPr>
          <p:cNvPr name="TextBox 12" id="12"/>
          <p:cNvSpPr txBox="true"/>
          <p:nvPr/>
        </p:nvSpPr>
        <p:spPr>
          <a:xfrm rot="0">
            <a:off x="1028700" y="2503080"/>
            <a:ext cx="15710004" cy="976113"/>
          </a:xfrm>
          <a:prstGeom prst="rect">
            <a:avLst/>
          </a:prstGeom>
        </p:spPr>
        <p:txBody>
          <a:bodyPr anchor="t" rtlCol="false" tIns="0" lIns="0" bIns="0" rIns="0">
            <a:spAutoFit/>
          </a:bodyPr>
          <a:lstStyle/>
          <a:p>
            <a:pPr algn="just" marL="0" indent="0" lvl="0">
              <a:lnSpc>
                <a:spcPts val="2599"/>
              </a:lnSpc>
              <a:spcBef>
                <a:spcPct val="0"/>
              </a:spcBef>
            </a:pPr>
            <a:r>
              <a:rPr lang="en-US" sz="1883" spc="37">
                <a:solidFill>
                  <a:srgbClr val="FFFFFF"/>
                </a:solidFill>
                <a:latin typeface="Ubuntu"/>
                <a:ea typeface="Ubuntu"/>
                <a:cs typeface="Ubuntu"/>
                <a:sym typeface="Ubuntu"/>
              </a:rPr>
              <a:t>The QNX microkernel architecture provides deterministic message passing that ensures absolute synchronization between sensor threads and fusion processes. Unlike monolithic kernels, QNX isolates drivers in user space, preventing cascading failures and guaranteeing predictable timing.</a:t>
            </a:r>
          </a:p>
        </p:txBody>
      </p:sp>
      <p:sp>
        <p:nvSpPr>
          <p:cNvPr name="TextBox 13" id="13"/>
          <p:cNvSpPr txBox="true"/>
          <p:nvPr/>
        </p:nvSpPr>
        <p:spPr>
          <a:xfrm rot="0">
            <a:off x="1527309" y="6699969"/>
            <a:ext cx="4064172" cy="331277"/>
          </a:xfrm>
          <a:prstGeom prst="rect">
            <a:avLst/>
          </a:prstGeom>
        </p:spPr>
        <p:txBody>
          <a:bodyPr anchor="t" rtlCol="false" tIns="0" lIns="0" bIns="0" rIns="0">
            <a:spAutoFit/>
          </a:bodyPr>
          <a:lstStyle/>
          <a:p>
            <a:pPr algn="ctr" marL="0" indent="0" lvl="0">
              <a:lnSpc>
                <a:spcPts val="2516"/>
              </a:lnSpc>
              <a:spcBef>
                <a:spcPct val="0"/>
              </a:spcBef>
            </a:pPr>
            <a:r>
              <a:rPr lang="en-US" b="true" sz="1823" spc="91">
                <a:solidFill>
                  <a:srgbClr val="FFFFFF"/>
                </a:solidFill>
                <a:latin typeface="Ubuntu Bold"/>
                <a:ea typeface="Ubuntu Bold"/>
                <a:cs typeface="Ubuntu Bold"/>
                <a:sym typeface="Ubuntu Bold"/>
              </a:rPr>
              <a:t>MICROKERNEL VS MONOLITHIC</a:t>
            </a:r>
          </a:p>
        </p:txBody>
      </p:sp>
      <p:sp>
        <p:nvSpPr>
          <p:cNvPr name="TextBox 14" id="14"/>
          <p:cNvSpPr txBox="true"/>
          <p:nvPr/>
        </p:nvSpPr>
        <p:spPr>
          <a:xfrm rot="0">
            <a:off x="7248921" y="7290137"/>
            <a:ext cx="3790158" cy="1345249"/>
          </a:xfrm>
          <a:prstGeom prst="rect">
            <a:avLst/>
          </a:prstGeom>
        </p:spPr>
        <p:txBody>
          <a:bodyPr anchor="t" rtlCol="false" tIns="0" lIns="0" bIns="0" rIns="0">
            <a:spAutoFit/>
          </a:bodyPr>
          <a:lstStyle/>
          <a:p>
            <a:pPr algn="ctr" marL="0" indent="0" lvl="0">
              <a:lnSpc>
                <a:spcPts val="2165"/>
              </a:lnSpc>
              <a:spcBef>
                <a:spcPct val="0"/>
              </a:spcBef>
            </a:pPr>
            <a:r>
              <a:rPr lang="en-US" sz="1569" spc="31">
                <a:solidFill>
                  <a:srgbClr val="FFFFFF"/>
                </a:solidFill>
                <a:latin typeface="Ubuntu"/>
                <a:ea typeface="Ubuntu"/>
                <a:cs typeface="Ubuntu"/>
                <a:sym typeface="Ubuntu"/>
              </a:rPr>
              <a:t>Each sensor driver runs in its own protected memory space. Hardware failures are contained, allowing graceful degradation without compromising the fusion engine's deterministic operation.</a:t>
            </a:r>
          </a:p>
        </p:txBody>
      </p:sp>
      <p:sp>
        <p:nvSpPr>
          <p:cNvPr name="TextBox 15" id="15"/>
          <p:cNvSpPr txBox="true"/>
          <p:nvPr/>
        </p:nvSpPr>
        <p:spPr>
          <a:xfrm rot="0">
            <a:off x="7725885" y="6699969"/>
            <a:ext cx="2836230" cy="331277"/>
          </a:xfrm>
          <a:prstGeom prst="rect">
            <a:avLst/>
          </a:prstGeom>
        </p:spPr>
        <p:txBody>
          <a:bodyPr anchor="t" rtlCol="false" tIns="0" lIns="0" bIns="0" rIns="0">
            <a:spAutoFit/>
          </a:bodyPr>
          <a:lstStyle/>
          <a:p>
            <a:pPr algn="ctr" marL="0" indent="0" lvl="0">
              <a:lnSpc>
                <a:spcPts val="2516"/>
              </a:lnSpc>
              <a:spcBef>
                <a:spcPct val="0"/>
              </a:spcBef>
            </a:pPr>
            <a:r>
              <a:rPr lang="en-US" b="true" sz="1823" spc="91">
                <a:solidFill>
                  <a:srgbClr val="FFFFFF"/>
                </a:solidFill>
                <a:latin typeface="Ubuntu Bold"/>
                <a:ea typeface="Ubuntu Bold"/>
                <a:cs typeface="Ubuntu Bold"/>
                <a:sym typeface="Ubuntu Bold"/>
              </a:rPr>
              <a:t>DRIVER ISOLATION</a:t>
            </a:r>
          </a:p>
        </p:txBody>
      </p:sp>
      <p:sp>
        <p:nvSpPr>
          <p:cNvPr name="TextBox 16" id="16"/>
          <p:cNvSpPr txBox="true"/>
          <p:nvPr/>
        </p:nvSpPr>
        <p:spPr>
          <a:xfrm rot="0">
            <a:off x="12837937" y="7290137"/>
            <a:ext cx="3790158" cy="1345249"/>
          </a:xfrm>
          <a:prstGeom prst="rect">
            <a:avLst/>
          </a:prstGeom>
        </p:spPr>
        <p:txBody>
          <a:bodyPr anchor="t" rtlCol="false" tIns="0" lIns="0" bIns="0" rIns="0">
            <a:spAutoFit/>
          </a:bodyPr>
          <a:lstStyle/>
          <a:p>
            <a:pPr algn="ctr" marL="0" indent="0" lvl="0">
              <a:lnSpc>
                <a:spcPts val="2165"/>
              </a:lnSpc>
              <a:spcBef>
                <a:spcPct val="0"/>
              </a:spcBef>
            </a:pPr>
            <a:r>
              <a:rPr lang="en-US" sz="1569" spc="31">
                <a:solidFill>
                  <a:srgbClr val="FFFFFF"/>
                </a:solidFill>
                <a:latin typeface="Ubuntu"/>
                <a:ea typeface="Ubuntu"/>
                <a:cs typeface="Ubuntu"/>
                <a:sym typeface="Ubuntu"/>
              </a:rPr>
              <a:t>Sensor Thread sends via MsgSend → Fusion Thread wakes, processes, replies → Sensor Thread resumes. This synchronous IPC guarantees absolute timing synchronization (&lt;5ns jitter).</a:t>
            </a:r>
          </a:p>
        </p:txBody>
      </p:sp>
      <p:sp>
        <p:nvSpPr>
          <p:cNvPr name="TextBox 17" id="17"/>
          <p:cNvSpPr txBox="true"/>
          <p:nvPr/>
        </p:nvSpPr>
        <p:spPr>
          <a:xfrm rot="0">
            <a:off x="13314900" y="6699969"/>
            <a:ext cx="2836230" cy="331277"/>
          </a:xfrm>
          <a:prstGeom prst="rect">
            <a:avLst/>
          </a:prstGeom>
        </p:spPr>
        <p:txBody>
          <a:bodyPr anchor="t" rtlCol="false" tIns="0" lIns="0" bIns="0" rIns="0">
            <a:spAutoFit/>
          </a:bodyPr>
          <a:lstStyle/>
          <a:p>
            <a:pPr algn="ctr" marL="0" indent="0" lvl="0">
              <a:lnSpc>
                <a:spcPts val="2516"/>
              </a:lnSpc>
              <a:spcBef>
                <a:spcPct val="0"/>
              </a:spcBef>
            </a:pPr>
            <a:r>
              <a:rPr lang="en-US" b="true" sz="1823" spc="91">
                <a:solidFill>
                  <a:srgbClr val="FFFFFF"/>
                </a:solidFill>
                <a:latin typeface="Ubuntu Bold"/>
                <a:ea typeface="Ubuntu Bold"/>
                <a:cs typeface="Ubuntu Bold"/>
                <a:sym typeface="Ubuntu Bold"/>
              </a:rPr>
              <a:t>MSGSEND HANDSHAKE</a:t>
            </a:r>
          </a:p>
        </p:txBody>
      </p:sp>
      <p:sp>
        <p:nvSpPr>
          <p:cNvPr name="TextBox 18" id="18"/>
          <p:cNvSpPr txBox="true"/>
          <p:nvPr/>
        </p:nvSpPr>
        <p:spPr>
          <a:xfrm rot="0">
            <a:off x="1679555" y="7290137"/>
            <a:ext cx="3790158" cy="1345249"/>
          </a:xfrm>
          <a:prstGeom prst="rect">
            <a:avLst/>
          </a:prstGeom>
        </p:spPr>
        <p:txBody>
          <a:bodyPr anchor="t" rtlCol="false" tIns="0" lIns="0" bIns="0" rIns="0">
            <a:spAutoFit/>
          </a:bodyPr>
          <a:lstStyle/>
          <a:p>
            <a:pPr algn="ctr" marL="0" indent="0" lvl="0">
              <a:lnSpc>
                <a:spcPts val="2165"/>
              </a:lnSpc>
              <a:spcBef>
                <a:spcPct val="0"/>
              </a:spcBef>
            </a:pPr>
            <a:r>
              <a:rPr lang="en-US" sz="1569" spc="31">
                <a:solidFill>
                  <a:srgbClr val="FFFFFF"/>
                </a:solidFill>
                <a:latin typeface="Ubuntu"/>
                <a:ea typeface="Ubuntu"/>
                <a:cs typeface="Ubuntu"/>
                <a:sym typeface="Ubuntu"/>
              </a:rPr>
              <a:t>QNX runs minimal code in kernel space. Drivers operate in isolated user processes, ensuring a single driver fault cannot crash the system—critical for safety-certified autonomous systems.</a:t>
            </a:r>
          </a:p>
        </p:txBody>
      </p:sp>
      <p:sp>
        <p:nvSpPr>
          <p:cNvPr name="TextBox 19" id="19"/>
          <p:cNvSpPr txBox="true"/>
          <p:nvPr/>
        </p:nvSpPr>
        <p:spPr>
          <a:xfrm rot="0">
            <a:off x="1028700" y="1019175"/>
            <a:ext cx="11567643" cy="1323975"/>
          </a:xfrm>
          <a:prstGeom prst="rect">
            <a:avLst/>
          </a:prstGeom>
        </p:spPr>
        <p:txBody>
          <a:bodyPr anchor="t" rtlCol="false" tIns="0" lIns="0" bIns="0" rIns="0">
            <a:spAutoFit/>
          </a:bodyPr>
          <a:lstStyle/>
          <a:p>
            <a:pPr algn="l" marL="0" indent="0" lvl="0">
              <a:lnSpc>
                <a:spcPts val="5246"/>
              </a:lnSpc>
              <a:spcBef>
                <a:spcPct val="0"/>
              </a:spcBef>
            </a:pPr>
            <a:r>
              <a:rPr lang="en-US" sz="4371" spc="87">
                <a:solidFill>
                  <a:srgbClr val="FFFFFF"/>
                </a:solidFill>
                <a:latin typeface="Archivo Black"/>
                <a:ea typeface="Archivo Black"/>
                <a:cs typeface="Archivo Black"/>
                <a:sym typeface="Archivo Black"/>
              </a:rPr>
              <a:t>QNX MICROKERNEL: THE SHIELD AGAINST CHAOS</a:t>
            </a:r>
          </a:p>
        </p:txBody>
      </p:sp>
      <p:sp>
        <p:nvSpPr>
          <p:cNvPr name="Freeform 20" id="20"/>
          <p:cNvSpPr/>
          <p:nvPr/>
        </p:nvSpPr>
        <p:spPr>
          <a:xfrm flipH="false" flipV="false" rot="0">
            <a:off x="2549803" y="4704146"/>
            <a:ext cx="2025475" cy="1908691"/>
          </a:xfrm>
          <a:custGeom>
            <a:avLst/>
            <a:gdLst/>
            <a:ahLst/>
            <a:cxnLst/>
            <a:rect r="r" b="b" t="t" l="l"/>
            <a:pathLst>
              <a:path h="1908691" w="2025475">
                <a:moveTo>
                  <a:pt x="0" y="0"/>
                </a:moveTo>
                <a:lnTo>
                  <a:pt x="2025475" y="0"/>
                </a:lnTo>
                <a:lnTo>
                  <a:pt x="2025475" y="1908691"/>
                </a:lnTo>
                <a:lnTo>
                  <a:pt x="0" y="1908691"/>
                </a:lnTo>
                <a:lnTo>
                  <a:pt x="0" y="0"/>
                </a:lnTo>
                <a:close/>
              </a:path>
            </a:pathLst>
          </a:custGeom>
          <a:blipFill>
            <a:blip r:embed="rId3"/>
            <a:stretch>
              <a:fillRect l="0" t="0" r="0" b="0"/>
            </a:stretch>
          </a:blipFill>
        </p:spPr>
      </p:sp>
      <p:sp>
        <p:nvSpPr>
          <p:cNvPr name="Freeform 21" id="21"/>
          <p:cNvSpPr/>
          <p:nvPr/>
        </p:nvSpPr>
        <p:spPr>
          <a:xfrm flipH="false" flipV="false" rot="0">
            <a:off x="8334613" y="4793148"/>
            <a:ext cx="1457296" cy="1498560"/>
          </a:xfrm>
          <a:custGeom>
            <a:avLst/>
            <a:gdLst/>
            <a:ahLst/>
            <a:cxnLst/>
            <a:rect r="r" b="b" t="t" l="l"/>
            <a:pathLst>
              <a:path h="1498560" w="1457296">
                <a:moveTo>
                  <a:pt x="0" y="0"/>
                </a:moveTo>
                <a:lnTo>
                  <a:pt x="1457296" y="0"/>
                </a:lnTo>
                <a:lnTo>
                  <a:pt x="1457296" y="1498561"/>
                </a:lnTo>
                <a:lnTo>
                  <a:pt x="0" y="1498561"/>
                </a:lnTo>
                <a:lnTo>
                  <a:pt x="0" y="0"/>
                </a:lnTo>
                <a:close/>
              </a:path>
            </a:pathLst>
          </a:custGeom>
          <a:blipFill>
            <a:blip r:embed="rId4"/>
            <a:stretch>
              <a:fillRect l="0" t="0" r="0" b="0"/>
            </a:stretch>
          </a:blipFill>
        </p:spPr>
      </p:sp>
      <p:sp>
        <p:nvSpPr>
          <p:cNvPr name="Freeform 22" id="22"/>
          <p:cNvSpPr/>
          <p:nvPr/>
        </p:nvSpPr>
        <p:spPr>
          <a:xfrm flipH="false" flipV="false" rot="0">
            <a:off x="12668856" y="4738582"/>
            <a:ext cx="4097473" cy="1562162"/>
          </a:xfrm>
          <a:custGeom>
            <a:avLst/>
            <a:gdLst/>
            <a:ahLst/>
            <a:cxnLst/>
            <a:rect r="r" b="b" t="t" l="l"/>
            <a:pathLst>
              <a:path h="1562162" w="4097473">
                <a:moveTo>
                  <a:pt x="0" y="0"/>
                </a:moveTo>
                <a:lnTo>
                  <a:pt x="4097474" y="0"/>
                </a:lnTo>
                <a:lnTo>
                  <a:pt x="4097474" y="1562162"/>
                </a:lnTo>
                <a:lnTo>
                  <a:pt x="0" y="1562162"/>
                </a:lnTo>
                <a:lnTo>
                  <a:pt x="0" y="0"/>
                </a:lnTo>
                <a:close/>
              </a:path>
            </a:pathLst>
          </a:custGeom>
          <a:blipFill>
            <a:blip r:embed="rId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10712509" y="2078836"/>
            <a:ext cx="5840953" cy="7488401"/>
          </a:xfrm>
          <a:custGeom>
            <a:avLst/>
            <a:gdLst/>
            <a:ahLst/>
            <a:cxnLst/>
            <a:rect r="r" b="b" t="t" l="l"/>
            <a:pathLst>
              <a:path h="7488401" w="5840953">
                <a:moveTo>
                  <a:pt x="0" y="0"/>
                </a:moveTo>
                <a:lnTo>
                  <a:pt x="5840952" y="0"/>
                </a:lnTo>
                <a:lnTo>
                  <a:pt x="5840952" y="7488401"/>
                </a:lnTo>
                <a:lnTo>
                  <a:pt x="0" y="7488401"/>
                </a:lnTo>
                <a:lnTo>
                  <a:pt x="0" y="0"/>
                </a:lnTo>
                <a:close/>
              </a:path>
            </a:pathLst>
          </a:custGeom>
          <a:blipFill>
            <a:blip r:embed="rId3"/>
            <a:stretch>
              <a:fillRect l="0" t="0" r="0" b="0"/>
            </a:stretch>
          </a:blipFill>
        </p:spPr>
      </p:sp>
      <p:sp>
        <p:nvSpPr>
          <p:cNvPr name="TextBox 4" id="4"/>
          <p:cNvSpPr txBox="true"/>
          <p:nvPr/>
        </p:nvSpPr>
        <p:spPr>
          <a:xfrm rot="0">
            <a:off x="1028700" y="1237319"/>
            <a:ext cx="2755263"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PSEUDO CODE</a:t>
            </a:r>
          </a:p>
        </p:txBody>
      </p:sp>
      <p:sp>
        <p:nvSpPr>
          <p:cNvPr name="TextBox 5" id="5"/>
          <p:cNvSpPr txBox="true"/>
          <p:nvPr/>
        </p:nvSpPr>
        <p:spPr>
          <a:xfrm rot="0">
            <a:off x="9409472" y="1237319"/>
            <a:ext cx="3264238"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FLOW CHART</a:t>
            </a:r>
          </a:p>
        </p:txBody>
      </p:sp>
      <p:sp>
        <p:nvSpPr>
          <p:cNvPr name="TextBox 6" id="6"/>
          <p:cNvSpPr txBox="true"/>
          <p:nvPr/>
        </p:nvSpPr>
        <p:spPr>
          <a:xfrm rot="0">
            <a:off x="1847240" y="1769743"/>
            <a:ext cx="6783856" cy="9144491"/>
          </a:xfrm>
          <a:prstGeom prst="rect">
            <a:avLst/>
          </a:prstGeom>
        </p:spPr>
        <p:txBody>
          <a:bodyPr anchor="t" rtlCol="false" tIns="0" lIns="0" bIns="0" rIns="0">
            <a:spAutoFit/>
          </a:bodyPr>
          <a:lstStyle/>
          <a:p>
            <a:pPr algn="just">
              <a:lnSpc>
                <a:spcPts val="3647"/>
              </a:lnSpc>
            </a:pPr>
            <a:r>
              <a:rPr lang="en-US" sz="2605" spc="52">
                <a:solidFill>
                  <a:srgbClr val="FFFFFF"/>
                </a:solidFill>
                <a:latin typeface="Ubuntu"/>
                <a:ea typeface="Ubuntu"/>
                <a:cs typeface="Ubuntu"/>
                <a:sym typeface="Ubuntu"/>
              </a:rPr>
              <a:t>BEGIN</a:t>
            </a:r>
          </a:p>
          <a:p>
            <a:pPr algn="just" marL="0" indent="0" lvl="0">
              <a:lnSpc>
                <a:spcPts val="3647"/>
              </a:lnSpc>
              <a:spcBef>
                <a:spcPct val="0"/>
              </a:spcBef>
            </a:pPr>
            <a:r>
              <a:rPr lang="en-US" sz="2605" spc="52">
                <a:solidFill>
                  <a:srgbClr val="FFFFFF"/>
                </a:solidFill>
                <a:latin typeface="Ubuntu"/>
                <a:ea typeface="Ubuntu"/>
                <a:cs typeface="Ubuntu"/>
                <a:sym typeface="Ubuntu"/>
              </a:rPr>
              <a:t>INITIALIZE</a:t>
            </a:r>
            <a:r>
              <a:rPr lang="en-US" sz="2605" spc="52">
                <a:solidFill>
                  <a:srgbClr val="FFFFFF"/>
                </a:solidFill>
                <a:latin typeface="Ubuntu"/>
                <a:ea typeface="Ubuntu"/>
                <a:cs typeface="Ubuntu"/>
                <a:sym typeface="Ubuntu"/>
              </a:rPr>
              <a:t> message_channel</a:t>
            </a:r>
          </a:p>
          <a:p>
            <a:pPr algn="just" marL="0" indent="0" lvl="0">
              <a:lnSpc>
                <a:spcPts val="3647"/>
              </a:lnSpc>
              <a:spcBef>
                <a:spcPct val="0"/>
              </a:spcBef>
            </a:pPr>
            <a:r>
              <a:rPr lang="en-US" sz="2605" spc="52">
                <a:solidFill>
                  <a:srgbClr val="FFFFFF"/>
                </a:solidFill>
                <a:latin typeface="Ubuntu"/>
                <a:ea typeface="Ubuntu"/>
                <a:cs typeface="Ubuntu"/>
                <a:sym typeface="Ubuntu"/>
              </a:rPr>
              <a:t>CREATE aggregator_thread</a:t>
            </a:r>
          </a:p>
          <a:p>
            <a:pPr algn="just" marL="0" indent="0" lvl="0">
              <a:lnSpc>
                <a:spcPts val="3647"/>
              </a:lnSpc>
              <a:spcBef>
                <a:spcPct val="0"/>
              </a:spcBef>
            </a:pPr>
            <a:r>
              <a:rPr lang="en-US" sz="2605" spc="52">
                <a:solidFill>
                  <a:srgbClr val="FFFFFF"/>
                </a:solidFill>
                <a:latin typeface="Ubuntu"/>
                <a:ea typeface="Ubuntu"/>
                <a:cs typeface="Ubuntu"/>
                <a:sym typeface="Ubuntu"/>
              </a:rPr>
              <a:t>FOR each sensor i:</a:t>
            </a:r>
          </a:p>
          <a:p>
            <a:pPr algn="just" marL="0" indent="0" lvl="0">
              <a:lnSpc>
                <a:spcPts val="3647"/>
              </a:lnSpc>
              <a:spcBef>
                <a:spcPct val="0"/>
              </a:spcBef>
            </a:pPr>
            <a:r>
              <a:rPr lang="en-US" sz="2605" spc="52">
                <a:solidFill>
                  <a:srgbClr val="FFFFFF"/>
                </a:solidFill>
                <a:latin typeface="Ubuntu"/>
                <a:ea typeface="Ubuntu"/>
                <a:cs typeface="Ubuntu"/>
                <a:sym typeface="Ubuntu"/>
              </a:rPr>
              <a:t>    CREATE sensor_thread(i)</a:t>
            </a:r>
          </a:p>
          <a:p>
            <a:pPr algn="just" marL="0" indent="0" lvl="0">
              <a:lnSpc>
                <a:spcPts val="3647"/>
              </a:lnSpc>
              <a:spcBef>
                <a:spcPct val="0"/>
              </a:spcBef>
            </a:pPr>
            <a:r>
              <a:rPr lang="en-US" sz="2605" spc="52">
                <a:solidFill>
                  <a:srgbClr val="FFFFFF"/>
                </a:solidFill>
                <a:latin typeface="Ubuntu"/>
                <a:ea typeface="Ubuntu"/>
                <a:cs typeface="Ubuntu"/>
                <a:sym typeface="Ubuntu"/>
              </a:rPr>
              <a:t>END FOR</a:t>
            </a:r>
          </a:p>
          <a:p>
            <a:pPr algn="just" marL="0" indent="0" lvl="0">
              <a:lnSpc>
                <a:spcPts val="3647"/>
              </a:lnSpc>
              <a:spcBef>
                <a:spcPct val="0"/>
              </a:spcBef>
            </a:pPr>
            <a:r>
              <a:rPr lang="en-US" sz="2605" spc="52">
                <a:solidFill>
                  <a:srgbClr val="FFFFFF"/>
                </a:solidFill>
                <a:latin typeface="Ubuntu"/>
                <a:ea typeface="Ubuntu"/>
                <a:cs typeface="Ubuntu"/>
                <a:sym typeface="Ubuntu"/>
              </a:rPr>
              <a:t>----------------------------------</a:t>
            </a:r>
          </a:p>
          <a:p>
            <a:pPr algn="just" marL="0" indent="0" lvl="0">
              <a:lnSpc>
                <a:spcPts val="3647"/>
              </a:lnSpc>
              <a:spcBef>
                <a:spcPct val="0"/>
              </a:spcBef>
            </a:pPr>
            <a:r>
              <a:rPr lang="en-US" sz="2605" spc="52">
                <a:solidFill>
                  <a:srgbClr val="FFFFFF"/>
                </a:solidFill>
                <a:latin typeface="Ubuntu"/>
                <a:ea typeface="Ubuntu"/>
                <a:cs typeface="Ubuntu"/>
                <a:sym typeface="Ubuntu"/>
              </a:rPr>
              <a:t>FUNCTION sensor_thread(id):</a:t>
            </a:r>
          </a:p>
          <a:p>
            <a:pPr algn="just" marL="0" indent="0" lvl="0">
              <a:lnSpc>
                <a:spcPts val="3647"/>
              </a:lnSpc>
              <a:spcBef>
                <a:spcPct val="0"/>
              </a:spcBef>
            </a:pPr>
            <a:r>
              <a:rPr lang="en-US" sz="2605" spc="52">
                <a:solidFill>
                  <a:srgbClr val="FFFFFF"/>
                </a:solidFill>
                <a:latin typeface="Ubuntu"/>
                <a:ea typeface="Ubuntu"/>
                <a:cs typeface="Ubuntu"/>
                <a:sym typeface="Ubuntu"/>
              </a:rPr>
              <a:t>WHILE TRUE:</a:t>
            </a:r>
          </a:p>
          <a:p>
            <a:pPr algn="just" marL="0" indent="0" lvl="0">
              <a:lnSpc>
                <a:spcPts val="3647"/>
              </a:lnSpc>
              <a:spcBef>
                <a:spcPct val="0"/>
              </a:spcBef>
            </a:pPr>
            <a:r>
              <a:rPr lang="en-US" sz="2605" spc="52">
                <a:solidFill>
                  <a:srgbClr val="FFFFFF"/>
                </a:solidFill>
                <a:latin typeface="Ubuntu"/>
                <a:ea typeface="Ubuntu"/>
                <a:cs typeface="Ubuntu"/>
                <a:sym typeface="Ubuntu"/>
              </a:rPr>
              <a:t>    data = perform_computation()</a:t>
            </a:r>
          </a:p>
          <a:p>
            <a:pPr algn="just" marL="0" indent="0" lvl="0">
              <a:lnSpc>
                <a:spcPts val="3647"/>
              </a:lnSpc>
              <a:spcBef>
                <a:spcPct val="0"/>
              </a:spcBef>
            </a:pPr>
            <a:r>
              <a:rPr lang="en-US" sz="2605" spc="52">
                <a:solidFill>
                  <a:srgbClr val="FFFFFF"/>
                </a:solidFill>
                <a:latin typeface="Ubuntu"/>
                <a:ea typeface="Ubuntu"/>
                <a:cs typeface="Ubuntu"/>
                <a:sym typeface="Ubuntu"/>
              </a:rPr>
              <a:t>    SEND data TO channel</a:t>
            </a:r>
          </a:p>
          <a:p>
            <a:pPr algn="just" marL="0" indent="0" lvl="0">
              <a:lnSpc>
                <a:spcPts val="3647"/>
              </a:lnSpc>
              <a:spcBef>
                <a:spcPct val="0"/>
              </a:spcBef>
            </a:pPr>
            <a:r>
              <a:rPr lang="en-US" sz="2605" spc="52">
                <a:solidFill>
                  <a:srgbClr val="FFFFFF"/>
                </a:solidFill>
                <a:latin typeface="Ubuntu"/>
                <a:ea typeface="Ubuntu"/>
                <a:cs typeface="Ubuntu"/>
                <a:sym typeface="Ubuntu"/>
              </a:rPr>
              <a:t>END WHILE</a:t>
            </a:r>
          </a:p>
          <a:p>
            <a:pPr algn="just" marL="0" indent="0" lvl="0">
              <a:lnSpc>
                <a:spcPts val="3647"/>
              </a:lnSpc>
              <a:spcBef>
                <a:spcPct val="0"/>
              </a:spcBef>
            </a:pPr>
            <a:r>
              <a:rPr lang="en-US" sz="2605" spc="52">
                <a:solidFill>
                  <a:srgbClr val="FFFFFF"/>
                </a:solidFill>
                <a:latin typeface="Ubuntu"/>
                <a:ea typeface="Ubuntu"/>
                <a:cs typeface="Ubuntu"/>
                <a:sym typeface="Ubuntu"/>
              </a:rPr>
              <a:t>----------------------------------</a:t>
            </a:r>
          </a:p>
          <a:p>
            <a:pPr algn="just" marL="0" indent="0" lvl="0">
              <a:lnSpc>
                <a:spcPts val="3647"/>
              </a:lnSpc>
              <a:spcBef>
                <a:spcPct val="0"/>
              </a:spcBef>
            </a:pPr>
            <a:r>
              <a:rPr lang="en-US" sz="2605" spc="52">
                <a:solidFill>
                  <a:srgbClr val="FFFFFF"/>
                </a:solidFill>
                <a:latin typeface="Ubuntu"/>
                <a:ea typeface="Ubuntu"/>
                <a:cs typeface="Ubuntu"/>
                <a:sym typeface="Ubuntu"/>
              </a:rPr>
              <a:t>FUNCTION aggregator_thread():</a:t>
            </a:r>
          </a:p>
          <a:p>
            <a:pPr algn="just" marL="0" indent="0" lvl="0">
              <a:lnSpc>
                <a:spcPts val="3647"/>
              </a:lnSpc>
              <a:spcBef>
                <a:spcPct val="0"/>
              </a:spcBef>
            </a:pPr>
            <a:r>
              <a:rPr lang="en-US" sz="2605" spc="52">
                <a:solidFill>
                  <a:srgbClr val="FFFFFF"/>
                </a:solidFill>
                <a:latin typeface="Ubuntu"/>
                <a:ea typeface="Ubuntu"/>
                <a:cs typeface="Ubuntu"/>
                <a:sym typeface="Ubuntu"/>
              </a:rPr>
              <a:t>WHILE TRUE:</a:t>
            </a:r>
          </a:p>
          <a:p>
            <a:pPr algn="just" marL="0" indent="0" lvl="0">
              <a:lnSpc>
                <a:spcPts val="3647"/>
              </a:lnSpc>
              <a:spcBef>
                <a:spcPct val="0"/>
              </a:spcBef>
            </a:pPr>
            <a:r>
              <a:rPr lang="en-US" sz="2605" spc="52">
                <a:solidFill>
                  <a:srgbClr val="FFFFFF"/>
                </a:solidFill>
                <a:latin typeface="Ubuntu"/>
                <a:ea typeface="Ubuntu"/>
                <a:cs typeface="Ubuntu"/>
                <a:sym typeface="Ubuntu"/>
              </a:rPr>
              <a:t>    data = RECEIVE from channel</a:t>
            </a:r>
          </a:p>
          <a:p>
            <a:pPr algn="just" marL="0" indent="0" lvl="0">
              <a:lnSpc>
                <a:spcPts val="3647"/>
              </a:lnSpc>
              <a:spcBef>
                <a:spcPct val="0"/>
              </a:spcBef>
            </a:pPr>
            <a:r>
              <a:rPr lang="en-US" sz="2605" spc="52">
                <a:solidFill>
                  <a:srgbClr val="FFFFFF"/>
                </a:solidFill>
                <a:latin typeface="Ubuntu"/>
                <a:ea typeface="Ubuntu"/>
                <a:cs typeface="Ubuntu"/>
                <a:sym typeface="Ubuntu"/>
              </a:rPr>
              <a:t>    PRINT data</a:t>
            </a:r>
          </a:p>
          <a:p>
            <a:pPr algn="just" marL="0" indent="0" lvl="0">
              <a:lnSpc>
                <a:spcPts val="3647"/>
              </a:lnSpc>
              <a:spcBef>
                <a:spcPct val="0"/>
              </a:spcBef>
            </a:pPr>
            <a:r>
              <a:rPr lang="en-US" sz="2605" spc="52">
                <a:solidFill>
                  <a:srgbClr val="FFFFFF"/>
                </a:solidFill>
                <a:latin typeface="Ubuntu"/>
                <a:ea typeface="Ubuntu"/>
                <a:cs typeface="Ubuntu"/>
                <a:sym typeface="Ubuntu"/>
              </a:rPr>
              <a:t>END WHILE</a:t>
            </a:r>
          </a:p>
          <a:p>
            <a:pPr algn="just" marL="0" indent="0" lvl="0">
              <a:lnSpc>
                <a:spcPts val="3647"/>
              </a:lnSpc>
              <a:spcBef>
                <a:spcPct val="0"/>
              </a:spcBef>
            </a:pPr>
          </a:p>
          <a:p>
            <a:pPr algn="just" marL="0" indent="0" lvl="0">
              <a:lnSpc>
                <a:spcPts val="3647"/>
              </a:lnSpc>
              <a:spcBef>
                <a:spcPct val="0"/>
              </a:spcBef>
            </a:pPr>
            <a:r>
              <a:rPr lang="en-US" sz="2605" spc="52">
                <a:solidFill>
                  <a:srgbClr val="FFFFFF"/>
                </a:solidFill>
                <a:latin typeface="Ubuntu"/>
                <a:ea typeface="Ubuntu"/>
                <a:cs typeface="Ubuntu"/>
                <a:sym typeface="Ubuntu"/>
              </a:rPr>
              <a:t>END</a:t>
            </a:r>
          </a:p>
        </p:txBody>
      </p:sp>
      <p:sp>
        <p:nvSpPr>
          <p:cNvPr name="TextBox 7" id="7"/>
          <p:cNvSpPr txBox="true"/>
          <p:nvPr/>
        </p:nvSpPr>
        <p:spPr>
          <a:xfrm rot="0">
            <a:off x="718982" y="237143"/>
            <a:ext cx="6783856" cy="791557"/>
          </a:xfrm>
          <a:prstGeom prst="rect">
            <a:avLst/>
          </a:prstGeom>
        </p:spPr>
        <p:txBody>
          <a:bodyPr anchor="t" rtlCol="false" tIns="0" lIns="0" bIns="0" rIns="0">
            <a:spAutoFit/>
          </a:bodyPr>
          <a:lstStyle/>
          <a:p>
            <a:pPr algn="l" marL="0" indent="0" lvl="0">
              <a:lnSpc>
                <a:spcPts val="6188"/>
              </a:lnSpc>
              <a:spcBef>
                <a:spcPct val="0"/>
              </a:spcBef>
            </a:pPr>
            <a:r>
              <a:rPr lang="en-US" sz="5157" spc="103">
                <a:solidFill>
                  <a:srgbClr val="FFFFFF"/>
                </a:solidFill>
                <a:latin typeface="Archivo Black"/>
                <a:ea typeface="Archivo Black"/>
                <a:cs typeface="Archivo Black"/>
                <a:sym typeface="Archivo Black"/>
              </a:rPr>
              <a:t>VERSION 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TextBox 3" id="3"/>
          <p:cNvSpPr txBox="true"/>
          <p:nvPr/>
        </p:nvSpPr>
        <p:spPr>
          <a:xfrm rot="0">
            <a:off x="718982" y="2442949"/>
            <a:ext cx="10477468" cy="7958946"/>
          </a:xfrm>
          <a:prstGeom prst="rect">
            <a:avLst/>
          </a:prstGeom>
        </p:spPr>
        <p:txBody>
          <a:bodyPr anchor="t" rtlCol="false" tIns="0" lIns="0" bIns="0" rIns="0">
            <a:spAutoFit/>
          </a:bodyPr>
          <a:lstStyle/>
          <a:p>
            <a:pPr algn="just">
              <a:lnSpc>
                <a:spcPts val="3367"/>
              </a:lnSpc>
            </a:pPr>
            <a:r>
              <a:rPr lang="en-US" sz="2405" spc="48">
                <a:solidFill>
                  <a:srgbClr val="FFFFFF"/>
                </a:solidFill>
                <a:latin typeface="Ubuntu"/>
                <a:ea typeface="Ubuntu"/>
                <a:cs typeface="Ubuntu"/>
                <a:sym typeface="Ubuntu"/>
              </a:rPr>
              <a:t>BEGIN                                                  FUNCTION aggregator_thread():</a:t>
            </a:r>
          </a:p>
          <a:p>
            <a:pPr algn="just" marL="0" indent="0" lvl="0">
              <a:lnSpc>
                <a:spcPts val="3367"/>
              </a:lnSpc>
              <a:spcBef>
                <a:spcPct val="0"/>
              </a:spcBef>
            </a:pPr>
            <a:r>
              <a:rPr lang="en-US" sz="2405" spc="48">
                <a:solidFill>
                  <a:srgbClr val="FFFFFF"/>
                </a:solidFill>
                <a:latin typeface="Ubuntu"/>
                <a:ea typeface="Ubuntu"/>
                <a:cs typeface="Ubuntu"/>
                <a:sym typeface="Ubuntu"/>
              </a:rPr>
              <a:t>INITIALIZE</a:t>
            </a:r>
            <a:r>
              <a:rPr lang="en-US" sz="2405" spc="48">
                <a:solidFill>
                  <a:srgbClr val="FFFFFF"/>
                </a:solidFill>
                <a:latin typeface="Ubuntu"/>
                <a:ea typeface="Ubuntu"/>
                <a:cs typeface="Ubuntu"/>
                <a:sym typeface="Ubuntu"/>
              </a:rPr>
              <a:t> message_channel        WHILE TRUE:</a:t>
            </a:r>
          </a:p>
          <a:p>
            <a:pPr algn="just" marL="0" indent="0" lvl="0">
              <a:lnSpc>
                <a:spcPts val="3367"/>
              </a:lnSpc>
              <a:spcBef>
                <a:spcPct val="0"/>
              </a:spcBef>
            </a:pPr>
            <a:r>
              <a:rPr lang="en-US" sz="2405" spc="48">
                <a:solidFill>
                  <a:srgbClr val="FFFFFF"/>
                </a:solidFill>
                <a:latin typeface="Ubuntu"/>
                <a:ea typeface="Ubuntu"/>
                <a:cs typeface="Ubuntu"/>
                <a:sym typeface="Ubuntu"/>
              </a:rPr>
              <a:t>CREATE aggregator_thread                 data = RECEIVE from channel</a:t>
            </a:r>
          </a:p>
          <a:p>
            <a:pPr algn="just" marL="0" indent="0" lvl="0">
              <a:lnSpc>
                <a:spcPts val="3367"/>
              </a:lnSpc>
              <a:spcBef>
                <a:spcPct val="0"/>
              </a:spcBef>
            </a:pPr>
            <a:r>
              <a:rPr lang="en-US" sz="2405" spc="48">
                <a:solidFill>
                  <a:srgbClr val="FFFFFF"/>
                </a:solidFill>
                <a:latin typeface="Ubuntu"/>
                <a:ea typeface="Ubuntu"/>
                <a:cs typeface="Ubuntu"/>
                <a:sym typeface="Ubuntu"/>
              </a:rPr>
              <a:t>FOR each sensor:                                    PRINT data</a:t>
            </a:r>
          </a:p>
          <a:p>
            <a:pPr algn="just" marL="0" indent="0" lvl="0">
              <a:lnSpc>
                <a:spcPts val="3367"/>
              </a:lnSpc>
              <a:spcBef>
                <a:spcPct val="0"/>
              </a:spcBef>
            </a:pPr>
            <a:r>
              <a:rPr lang="en-US" sz="2405" spc="48">
                <a:solidFill>
                  <a:srgbClr val="FFFFFF"/>
                </a:solidFill>
                <a:latin typeface="Ubuntu"/>
                <a:ea typeface="Ubuntu"/>
                <a:cs typeface="Ubuntu"/>
                <a:sym typeface="Ubuntu"/>
              </a:rPr>
              <a:t>    CREATE sensor_thread               END WHILE</a:t>
            </a:r>
          </a:p>
          <a:p>
            <a:pPr algn="just" marL="0" indent="0" lvl="0">
              <a:lnSpc>
                <a:spcPts val="3367"/>
              </a:lnSpc>
              <a:spcBef>
                <a:spcPct val="0"/>
              </a:spcBef>
            </a:pPr>
            <a:r>
              <a:rPr lang="en-US" sz="2405" spc="48">
                <a:solidFill>
                  <a:srgbClr val="FFFFFF"/>
                </a:solidFill>
                <a:latin typeface="Ubuntu"/>
                <a:ea typeface="Ubuntu"/>
                <a:cs typeface="Ubuntu"/>
                <a:sym typeface="Ubuntu"/>
              </a:rPr>
              <a:t>END FOR                                             END</a:t>
            </a:r>
          </a:p>
          <a:p>
            <a:pPr algn="just" marL="0" indent="0" lvl="0">
              <a:lnSpc>
                <a:spcPts val="3367"/>
              </a:lnSpc>
              <a:spcBef>
                <a:spcPct val="0"/>
              </a:spcBef>
            </a:pPr>
            <a:r>
              <a:rPr lang="en-US" sz="2405" spc="48">
                <a:solidFill>
                  <a:srgbClr val="FFFFFF"/>
                </a:solidFill>
                <a:latin typeface="Ubuntu"/>
                <a:ea typeface="Ubuntu"/>
                <a:cs typeface="Ubuntu"/>
                <a:sym typeface="Ubuntu"/>
              </a:rPr>
              <a:t>----------------------------------</a:t>
            </a:r>
          </a:p>
          <a:p>
            <a:pPr algn="just" marL="0" indent="0" lvl="0">
              <a:lnSpc>
                <a:spcPts val="3367"/>
              </a:lnSpc>
              <a:spcBef>
                <a:spcPct val="0"/>
              </a:spcBef>
            </a:pPr>
            <a:r>
              <a:rPr lang="en-US" sz="2405" spc="48">
                <a:solidFill>
                  <a:srgbClr val="FFFFFF"/>
                </a:solidFill>
                <a:latin typeface="Ubuntu"/>
                <a:ea typeface="Ubuntu"/>
                <a:cs typeface="Ubuntu"/>
                <a:sym typeface="Ubuntu"/>
              </a:rPr>
              <a:t>FUNCTION sensor_thread(id):</a:t>
            </a:r>
          </a:p>
          <a:p>
            <a:pPr algn="just" marL="0" indent="0" lvl="0">
              <a:lnSpc>
                <a:spcPts val="3367"/>
              </a:lnSpc>
              <a:spcBef>
                <a:spcPct val="0"/>
              </a:spcBef>
            </a:pPr>
            <a:r>
              <a:rPr lang="en-US" sz="2405" spc="48">
                <a:solidFill>
                  <a:srgbClr val="FFFFFF"/>
                </a:solidFill>
                <a:latin typeface="Ubuntu"/>
                <a:ea typeface="Ubuntu"/>
                <a:cs typeface="Ubuntu"/>
                <a:sym typeface="Ubuntu"/>
              </a:rPr>
              <a:t>WHILE TRUE:</a:t>
            </a:r>
          </a:p>
          <a:p>
            <a:pPr algn="just" marL="0" indent="0" lvl="0">
              <a:lnSpc>
                <a:spcPts val="3367"/>
              </a:lnSpc>
              <a:spcBef>
                <a:spcPct val="0"/>
              </a:spcBef>
            </a:pPr>
            <a:r>
              <a:rPr lang="en-US" sz="2405" spc="48">
                <a:solidFill>
                  <a:srgbClr val="FFFFFF"/>
                </a:solidFill>
                <a:latin typeface="Ubuntu"/>
                <a:ea typeface="Ubuntu"/>
                <a:cs typeface="Ubuntu"/>
                <a:sym typeface="Ubuntu"/>
              </a:rPr>
              <a:t>    // Heavy CPU workload</a:t>
            </a:r>
          </a:p>
          <a:p>
            <a:pPr algn="just" marL="0" indent="0" lvl="0">
              <a:lnSpc>
                <a:spcPts val="3367"/>
              </a:lnSpc>
              <a:spcBef>
                <a:spcPct val="0"/>
              </a:spcBef>
            </a:pPr>
            <a:r>
              <a:rPr lang="en-US" sz="2405" spc="48">
                <a:solidFill>
                  <a:srgbClr val="FFFFFF"/>
                </a:solidFill>
                <a:latin typeface="Ubuntu"/>
                <a:ea typeface="Ubuntu"/>
                <a:cs typeface="Ubuntu"/>
                <a:sym typeface="Ubuntu"/>
              </a:rPr>
              <a:t>    result = heavy_computation()</a:t>
            </a:r>
          </a:p>
          <a:p>
            <a:pPr algn="just" marL="0" indent="0" lvl="0">
              <a:lnSpc>
                <a:spcPts val="3367"/>
              </a:lnSpc>
              <a:spcBef>
                <a:spcPct val="0"/>
              </a:spcBef>
            </a:pPr>
            <a:r>
              <a:rPr lang="en-US" sz="2405" spc="48">
                <a:solidFill>
                  <a:srgbClr val="FFFFFF"/>
                </a:solidFill>
                <a:latin typeface="Ubuntu"/>
                <a:ea typeface="Ubuntu"/>
                <a:cs typeface="Ubuntu"/>
                <a:sym typeface="Ubuntu"/>
              </a:rPr>
              <a:t>    SEND result TO channel</a:t>
            </a:r>
          </a:p>
          <a:p>
            <a:pPr algn="just" marL="0" indent="0" lvl="0">
              <a:lnSpc>
                <a:spcPts val="3367"/>
              </a:lnSpc>
              <a:spcBef>
                <a:spcPct val="0"/>
              </a:spcBef>
            </a:pPr>
            <a:r>
              <a:rPr lang="en-US" sz="2405" spc="48">
                <a:solidFill>
                  <a:srgbClr val="FFFFFF"/>
                </a:solidFill>
                <a:latin typeface="Ubuntu"/>
                <a:ea typeface="Ubuntu"/>
                <a:cs typeface="Ubuntu"/>
                <a:sym typeface="Ubuntu"/>
              </a:rPr>
              <a:t>    SLEEP 10 ms</a:t>
            </a:r>
          </a:p>
          <a:p>
            <a:pPr algn="just" marL="0" indent="0" lvl="0">
              <a:lnSpc>
                <a:spcPts val="3367"/>
              </a:lnSpc>
              <a:spcBef>
                <a:spcPct val="0"/>
              </a:spcBef>
            </a:pPr>
            <a:r>
              <a:rPr lang="en-US" sz="2405" spc="48">
                <a:solidFill>
                  <a:srgbClr val="FFFFFF"/>
                </a:solidFill>
                <a:latin typeface="Ubuntu"/>
                <a:ea typeface="Ubuntu"/>
                <a:cs typeface="Ubuntu"/>
                <a:sym typeface="Ubuntu"/>
              </a:rPr>
              <a:t>END WHILE</a:t>
            </a:r>
          </a:p>
          <a:p>
            <a:pPr algn="just" marL="0" indent="0" lvl="0">
              <a:lnSpc>
                <a:spcPts val="3367"/>
              </a:lnSpc>
              <a:spcBef>
                <a:spcPct val="0"/>
              </a:spcBef>
            </a:pPr>
            <a:r>
              <a:rPr lang="en-US" sz="2405" spc="48">
                <a:solidFill>
                  <a:srgbClr val="FFFFFF"/>
                </a:solidFill>
                <a:latin typeface="Ubuntu"/>
                <a:ea typeface="Ubuntu"/>
                <a:cs typeface="Ubuntu"/>
                <a:sym typeface="Ubuntu"/>
              </a:rPr>
              <a:t>----------------------------------</a:t>
            </a:r>
          </a:p>
          <a:p>
            <a:pPr algn="just" marL="0" indent="0" lvl="0">
              <a:lnSpc>
                <a:spcPts val="3367"/>
              </a:lnSpc>
              <a:spcBef>
                <a:spcPct val="0"/>
              </a:spcBef>
            </a:pPr>
            <a:r>
              <a:rPr lang="en-US" sz="2405" spc="48">
                <a:solidFill>
                  <a:srgbClr val="FFFFFF"/>
                </a:solidFill>
                <a:latin typeface="Ubuntu"/>
                <a:ea typeface="Ubuntu"/>
                <a:cs typeface="Ubuntu"/>
                <a:sym typeface="Ubuntu"/>
              </a:rPr>
              <a:t>    </a:t>
            </a:r>
          </a:p>
          <a:p>
            <a:pPr algn="just" marL="0" indent="0" lvl="0">
              <a:lnSpc>
                <a:spcPts val="3367"/>
              </a:lnSpc>
              <a:spcBef>
                <a:spcPct val="0"/>
              </a:spcBef>
            </a:pPr>
            <a:r>
              <a:rPr lang="en-US" sz="2405" spc="48">
                <a:solidFill>
                  <a:srgbClr val="FFFFFF"/>
                </a:solidFill>
                <a:latin typeface="Ubuntu"/>
                <a:ea typeface="Ubuntu"/>
                <a:cs typeface="Ubuntu"/>
                <a:sym typeface="Ubuntu"/>
              </a:rPr>
              <a:t>    </a:t>
            </a:r>
          </a:p>
          <a:p>
            <a:pPr algn="just" marL="0" indent="0" lvl="0">
              <a:lnSpc>
                <a:spcPts val="3367"/>
              </a:lnSpc>
              <a:spcBef>
                <a:spcPct val="0"/>
              </a:spcBef>
            </a:pPr>
          </a:p>
          <a:p>
            <a:pPr algn="just" marL="0" indent="0" lvl="0">
              <a:lnSpc>
                <a:spcPts val="3367"/>
              </a:lnSpc>
              <a:spcBef>
                <a:spcPct val="0"/>
              </a:spcBef>
            </a:pPr>
          </a:p>
        </p:txBody>
      </p:sp>
      <p:sp>
        <p:nvSpPr>
          <p:cNvPr name="Freeform 4" id="4"/>
          <p:cNvSpPr/>
          <p:nvPr/>
        </p:nvSpPr>
        <p:spPr>
          <a:xfrm flipH="false" flipV="false" rot="0">
            <a:off x="11504138" y="1968699"/>
            <a:ext cx="5755162" cy="7426015"/>
          </a:xfrm>
          <a:custGeom>
            <a:avLst/>
            <a:gdLst/>
            <a:ahLst/>
            <a:cxnLst/>
            <a:rect r="r" b="b" t="t" l="l"/>
            <a:pathLst>
              <a:path h="7426015" w="5755162">
                <a:moveTo>
                  <a:pt x="0" y="0"/>
                </a:moveTo>
                <a:lnTo>
                  <a:pt x="5755162" y="0"/>
                </a:lnTo>
                <a:lnTo>
                  <a:pt x="5755162" y="7426015"/>
                </a:lnTo>
                <a:lnTo>
                  <a:pt x="0" y="7426015"/>
                </a:lnTo>
                <a:lnTo>
                  <a:pt x="0" y="0"/>
                </a:lnTo>
                <a:close/>
              </a:path>
            </a:pathLst>
          </a:custGeom>
          <a:blipFill>
            <a:blip r:embed="rId3"/>
            <a:stretch>
              <a:fillRect l="0" t="0" r="0" b="0"/>
            </a:stretch>
          </a:blipFill>
        </p:spPr>
      </p:sp>
      <p:sp>
        <p:nvSpPr>
          <p:cNvPr name="TextBox 5" id="5"/>
          <p:cNvSpPr txBox="true"/>
          <p:nvPr/>
        </p:nvSpPr>
        <p:spPr>
          <a:xfrm rot="0">
            <a:off x="873841" y="1569625"/>
            <a:ext cx="2755263"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PSEUDO CODE</a:t>
            </a:r>
          </a:p>
        </p:txBody>
      </p:sp>
      <p:sp>
        <p:nvSpPr>
          <p:cNvPr name="TextBox 6" id="6"/>
          <p:cNvSpPr txBox="true"/>
          <p:nvPr/>
        </p:nvSpPr>
        <p:spPr>
          <a:xfrm rot="0">
            <a:off x="10382871" y="1569625"/>
            <a:ext cx="3264238"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FLOW CHART</a:t>
            </a:r>
          </a:p>
        </p:txBody>
      </p:sp>
      <p:sp>
        <p:nvSpPr>
          <p:cNvPr name="TextBox 7" id="7"/>
          <p:cNvSpPr txBox="true"/>
          <p:nvPr/>
        </p:nvSpPr>
        <p:spPr>
          <a:xfrm rot="0">
            <a:off x="718982" y="237143"/>
            <a:ext cx="6783856" cy="791557"/>
          </a:xfrm>
          <a:prstGeom prst="rect">
            <a:avLst/>
          </a:prstGeom>
        </p:spPr>
        <p:txBody>
          <a:bodyPr anchor="t" rtlCol="false" tIns="0" lIns="0" bIns="0" rIns="0">
            <a:spAutoFit/>
          </a:bodyPr>
          <a:lstStyle/>
          <a:p>
            <a:pPr algn="l" marL="0" indent="0" lvl="0">
              <a:lnSpc>
                <a:spcPts val="6188"/>
              </a:lnSpc>
              <a:spcBef>
                <a:spcPct val="0"/>
              </a:spcBef>
            </a:pPr>
            <a:r>
              <a:rPr lang="en-US" sz="5157" spc="103">
                <a:solidFill>
                  <a:srgbClr val="FFFFFF"/>
                </a:solidFill>
                <a:latin typeface="Archivo Black"/>
                <a:ea typeface="Archivo Black"/>
                <a:cs typeface="Archivo Black"/>
                <a:sym typeface="Archivo Black"/>
              </a:rPr>
              <a:t>VERSION 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TextBox 3" id="3"/>
          <p:cNvSpPr txBox="true"/>
          <p:nvPr/>
        </p:nvSpPr>
        <p:spPr>
          <a:xfrm rot="0">
            <a:off x="2776329" y="2308535"/>
            <a:ext cx="5518012" cy="6949765"/>
          </a:xfrm>
          <a:prstGeom prst="rect">
            <a:avLst/>
          </a:prstGeom>
        </p:spPr>
        <p:txBody>
          <a:bodyPr anchor="t" rtlCol="false" tIns="0" lIns="0" bIns="0" rIns="0">
            <a:spAutoFit/>
          </a:bodyPr>
          <a:lstStyle/>
          <a:p>
            <a:pPr algn="just">
              <a:lnSpc>
                <a:spcPts val="3493"/>
              </a:lnSpc>
            </a:pPr>
            <a:r>
              <a:rPr lang="en-US" sz="2495" spc="49">
                <a:solidFill>
                  <a:srgbClr val="FFFFFF"/>
                </a:solidFill>
                <a:latin typeface="Ubuntu"/>
                <a:ea typeface="Ubuntu"/>
                <a:cs typeface="Ubuntu"/>
                <a:sym typeface="Ubuntu"/>
              </a:rPr>
              <a:t>BEGIN SYSTEM</a:t>
            </a:r>
          </a:p>
          <a:p>
            <a:pPr algn="just" marL="0" indent="0" lvl="0">
              <a:lnSpc>
                <a:spcPts val="3493"/>
              </a:lnSpc>
              <a:spcBef>
                <a:spcPct val="0"/>
              </a:spcBef>
            </a:pPr>
            <a:r>
              <a:rPr lang="en-US" sz="2495" spc="49">
                <a:solidFill>
                  <a:srgbClr val="FFFFFF"/>
                </a:solidFill>
                <a:latin typeface="Ubuntu"/>
                <a:ea typeface="Ubuntu"/>
                <a:cs typeface="Ubuntu"/>
                <a:sym typeface="Ubuntu"/>
              </a:rPr>
              <a:t>INITIALIZE</a:t>
            </a:r>
            <a:r>
              <a:rPr lang="en-US" sz="2495" spc="49">
                <a:solidFill>
                  <a:srgbClr val="FFFFFF"/>
                </a:solidFill>
                <a:latin typeface="Ubuntu"/>
                <a:ea typeface="Ubuntu"/>
                <a:cs typeface="Ubuntu"/>
                <a:sym typeface="Ubuntu"/>
              </a:rPr>
              <a:t> message_channel</a:t>
            </a:r>
          </a:p>
          <a:p>
            <a:pPr algn="just" marL="0" indent="0" lvl="0">
              <a:lnSpc>
                <a:spcPts val="3493"/>
              </a:lnSpc>
              <a:spcBef>
                <a:spcPct val="0"/>
              </a:spcBef>
            </a:pPr>
            <a:r>
              <a:rPr lang="en-US" sz="2495" spc="49">
                <a:solidFill>
                  <a:srgbClr val="FFFFFF"/>
                </a:solidFill>
                <a:latin typeface="Ubuntu"/>
                <a:ea typeface="Ubuntu"/>
                <a:cs typeface="Ubuntu"/>
                <a:sym typeface="Ubuntu"/>
              </a:rPr>
              <a:t>CREATE aggregator_thread</a:t>
            </a:r>
          </a:p>
          <a:p>
            <a:pPr algn="just" marL="0" indent="0" lvl="0">
              <a:lnSpc>
                <a:spcPts val="3493"/>
              </a:lnSpc>
              <a:spcBef>
                <a:spcPct val="0"/>
              </a:spcBef>
            </a:pPr>
            <a:r>
              <a:rPr lang="en-US" sz="2495" spc="49">
                <a:solidFill>
                  <a:srgbClr val="FFFFFF"/>
                </a:solidFill>
                <a:latin typeface="Ubuntu"/>
                <a:ea typeface="Ubuntu"/>
                <a:cs typeface="Ubuntu"/>
                <a:sym typeface="Ubuntu"/>
              </a:rPr>
              <a:t>FOR each sensor:</a:t>
            </a:r>
          </a:p>
          <a:p>
            <a:pPr algn="just" marL="0" indent="0" lvl="0">
              <a:lnSpc>
                <a:spcPts val="3493"/>
              </a:lnSpc>
              <a:spcBef>
                <a:spcPct val="0"/>
              </a:spcBef>
            </a:pPr>
            <a:r>
              <a:rPr lang="en-US" sz="2495" spc="49">
                <a:solidFill>
                  <a:srgbClr val="FFFFFF"/>
                </a:solidFill>
                <a:latin typeface="Ubuntu"/>
                <a:ea typeface="Ubuntu"/>
                <a:cs typeface="Ubuntu"/>
                <a:sym typeface="Ubuntu"/>
              </a:rPr>
              <a:t>    CREATE sensor_thread</a:t>
            </a:r>
          </a:p>
          <a:p>
            <a:pPr algn="just" marL="0" indent="0" lvl="0">
              <a:lnSpc>
                <a:spcPts val="3493"/>
              </a:lnSpc>
              <a:spcBef>
                <a:spcPct val="0"/>
              </a:spcBef>
            </a:pPr>
            <a:r>
              <a:rPr lang="en-US" sz="2495" spc="49">
                <a:solidFill>
                  <a:srgbClr val="FFFFFF"/>
                </a:solidFill>
                <a:latin typeface="Ubuntu"/>
                <a:ea typeface="Ubuntu"/>
                <a:cs typeface="Ubuntu"/>
                <a:sym typeface="Ubuntu"/>
              </a:rPr>
              <a:t>END FOR</a:t>
            </a:r>
          </a:p>
          <a:p>
            <a:pPr algn="just" marL="0" indent="0" lvl="0">
              <a:lnSpc>
                <a:spcPts val="3493"/>
              </a:lnSpc>
              <a:spcBef>
                <a:spcPct val="0"/>
              </a:spcBef>
            </a:pPr>
            <a:r>
              <a:rPr lang="en-US" sz="2495" spc="49">
                <a:solidFill>
                  <a:srgbClr val="FFFFFF"/>
                </a:solidFill>
                <a:latin typeface="Ubuntu"/>
                <a:ea typeface="Ubuntu"/>
                <a:cs typeface="Ubuntu"/>
                <a:sym typeface="Ubuntu"/>
              </a:rPr>
              <a:t>----------------------------------</a:t>
            </a:r>
          </a:p>
          <a:p>
            <a:pPr algn="just" marL="0" indent="0" lvl="0">
              <a:lnSpc>
                <a:spcPts val="3493"/>
              </a:lnSpc>
              <a:spcBef>
                <a:spcPct val="0"/>
              </a:spcBef>
            </a:pPr>
            <a:r>
              <a:rPr lang="en-US" sz="2495" spc="49">
                <a:solidFill>
                  <a:srgbClr val="FFFFFF"/>
                </a:solidFill>
                <a:latin typeface="Ubuntu"/>
                <a:ea typeface="Ubuntu"/>
                <a:cs typeface="Ubuntu"/>
                <a:sym typeface="Ubuntu"/>
              </a:rPr>
              <a:t>FUNCTION sensor_thread(id):</a:t>
            </a:r>
          </a:p>
          <a:p>
            <a:pPr algn="just" marL="0" indent="0" lvl="0">
              <a:lnSpc>
                <a:spcPts val="3493"/>
              </a:lnSpc>
              <a:spcBef>
                <a:spcPct val="0"/>
              </a:spcBef>
            </a:pPr>
            <a:r>
              <a:rPr lang="en-US" sz="2495" spc="49">
                <a:solidFill>
                  <a:srgbClr val="FFFFFF"/>
                </a:solidFill>
                <a:latin typeface="Ubuntu"/>
                <a:ea typeface="Ubuntu"/>
                <a:cs typeface="Ubuntu"/>
                <a:sym typeface="Ubuntu"/>
              </a:rPr>
              <a:t>WHILE TRUE:</a:t>
            </a:r>
          </a:p>
          <a:p>
            <a:pPr algn="just" marL="0" indent="0" lvl="0">
              <a:lnSpc>
                <a:spcPts val="3493"/>
              </a:lnSpc>
              <a:spcBef>
                <a:spcPct val="0"/>
              </a:spcBef>
            </a:pPr>
            <a:r>
              <a:rPr lang="en-US" sz="2495" spc="49">
                <a:solidFill>
                  <a:srgbClr val="FFFFFF"/>
                </a:solidFill>
                <a:latin typeface="Ubuntu"/>
                <a:ea typeface="Ubuntu"/>
                <a:cs typeface="Ubuntu"/>
                <a:sym typeface="Ubuntu"/>
              </a:rPr>
              <a:t>    result = heavy_computation()</a:t>
            </a:r>
          </a:p>
          <a:p>
            <a:pPr algn="just" marL="0" indent="0" lvl="0">
              <a:lnSpc>
                <a:spcPts val="3493"/>
              </a:lnSpc>
              <a:spcBef>
                <a:spcPct val="0"/>
              </a:spcBef>
            </a:pPr>
            <a:r>
              <a:rPr lang="en-US" sz="2495" spc="49">
                <a:solidFill>
                  <a:srgbClr val="FFFFFF"/>
                </a:solidFill>
                <a:latin typeface="Ubuntu"/>
                <a:ea typeface="Ubuntu"/>
                <a:cs typeface="Ubuntu"/>
                <a:sym typeface="Ubuntu"/>
              </a:rPr>
              <a:t>    send_time = current_time()</a:t>
            </a:r>
          </a:p>
          <a:p>
            <a:pPr algn="just" marL="0" indent="0" lvl="0">
              <a:lnSpc>
                <a:spcPts val="3493"/>
              </a:lnSpc>
              <a:spcBef>
                <a:spcPct val="0"/>
              </a:spcBef>
            </a:pPr>
            <a:r>
              <a:rPr lang="en-US" sz="2495" spc="49">
                <a:solidFill>
                  <a:srgbClr val="FFFFFF"/>
                </a:solidFill>
                <a:latin typeface="Ubuntu"/>
                <a:ea typeface="Ubuntu"/>
                <a:cs typeface="Ubuntu"/>
                <a:sym typeface="Ubuntu"/>
              </a:rPr>
              <a:t>    msg = {id, result, send_time}</a:t>
            </a:r>
          </a:p>
          <a:p>
            <a:pPr algn="just" marL="0" indent="0" lvl="0">
              <a:lnSpc>
                <a:spcPts val="3493"/>
              </a:lnSpc>
              <a:spcBef>
                <a:spcPct val="0"/>
              </a:spcBef>
            </a:pPr>
            <a:r>
              <a:rPr lang="en-US" sz="2495" spc="49">
                <a:solidFill>
                  <a:srgbClr val="FFFFFF"/>
                </a:solidFill>
                <a:latin typeface="Ubuntu"/>
                <a:ea typeface="Ubuntu"/>
                <a:cs typeface="Ubuntu"/>
                <a:sym typeface="Ubuntu"/>
              </a:rPr>
              <a:t>    SEND msg TO channel</a:t>
            </a:r>
          </a:p>
          <a:p>
            <a:pPr algn="just" marL="0" indent="0" lvl="0">
              <a:lnSpc>
                <a:spcPts val="3493"/>
              </a:lnSpc>
              <a:spcBef>
                <a:spcPct val="0"/>
              </a:spcBef>
            </a:pPr>
            <a:r>
              <a:rPr lang="en-US" sz="2495" spc="49">
                <a:solidFill>
                  <a:srgbClr val="FFFFFF"/>
                </a:solidFill>
                <a:latin typeface="Ubuntu"/>
                <a:ea typeface="Ubuntu"/>
                <a:cs typeface="Ubuntu"/>
                <a:sym typeface="Ubuntu"/>
              </a:rPr>
              <a:t>    SLEEP 10 ms</a:t>
            </a:r>
          </a:p>
          <a:p>
            <a:pPr algn="just" marL="0" indent="0" lvl="0">
              <a:lnSpc>
                <a:spcPts val="3493"/>
              </a:lnSpc>
              <a:spcBef>
                <a:spcPct val="0"/>
              </a:spcBef>
            </a:pPr>
            <a:r>
              <a:rPr lang="en-US" sz="2495" spc="49">
                <a:solidFill>
                  <a:srgbClr val="FFFFFF"/>
                </a:solidFill>
                <a:latin typeface="Ubuntu"/>
                <a:ea typeface="Ubuntu"/>
                <a:cs typeface="Ubuntu"/>
                <a:sym typeface="Ubuntu"/>
              </a:rPr>
              <a:t>END WHILE</a:t>
            </a:r>
          </a:p>
          <a:p>
            <a:pPr algn="just" marL="0" indent="0" lvl="0">
              <a:lnSpc>
                <a:spcPts val="3493"/>
              </a:lnSpc>
              <a:spcBef>
                <a:spcPct val="0"/>
              </a:spcBef>
            </a:pPr>
          </a:p>
        </p:txBody>
      </p:sp>
      <p:sp>
        <p:nvSpPr>
          <p:cNvPr name="TextBox 4" id="4"/>
          <p:cNvSpPr txBox="true"/>
          <p:nvPr/>
        </p:nvSpPr>
        <p:spPr>
          <a:xfrm rot="0">
            <a:off x="873841" y="1569625"/>
            <a:ext cx="2755263"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PSEUDO CODE</a:t>
            </a:r>
          </a:p>
        </p:txBody>
      </p:sp>
      <p:sp>
        <p:nvSpPr>
          <p:cNvPr name="TextBox 5" id="5"/>
          <p:cNvSpPr txBox="true"/>
          <p:nvPr/>
        </p:nvSpPr>
        <p:spPr>
          <a:xfrm rot="0">
            <a:off x="718982" y="237143"/>
            <a:ext cx="6783856" cy="791557"/>
          </a:xfrm>
          <a:prstGeom prst="rect">
            <a:avLst/>
          </a:prstGeom>
        </p:spPr>
        <p:txBody>
          <a:bodyPr anchor="t" rtlCol="false" tIns="0" lIns="0" bIns="0" rIns="0">
            <a:spAutoFit/>
          </a:bodyPr>
          <a:lstStyle/>
          <a:p>
            <a:pPr algn="l" marL="0" indent="0" lvl="0">
              <a:lnSpc>
                <a:spcPts val="6188"/>
              </a:lnSpc>
              <a:spcBef>
                <a:spcPct val="0"/>
              </a:spcBef>
            </a:pPr>
            <a:r>
              <a:rPr lang="en-US" sz="5157" spc="103">
                <a:solidFill>
                  <a:srgbClr val="FFFFFF"/>
                </a:solidFill>
                <a:latin typeface="Archivo Black"/>
                <a:ea typeface="Archivo Black"/>
                <a:cs typeface="Archivo Black"/>
                <a:sym typeface="Archivo Black"/>
              </a:rPr>
              <a:t>VERSION 3</a:t>
            </a:r>
          </a:p>
        </p:txBody>
      </p:sp>
      <p:sp>
        <p:nvSpPr>
          <p:cNvPr name="TextBox 6" id="6"/>
          <p:cNvSpPr txBox="true"/>
          <p:nvPr/>
        </p:nvSpPr>
        <p:spPr>
          <a:xfrm rot="0">
            <a:off x="9778485" y="2308535"/>
            <a:ext cx="5518012" cy="6949765"/>
          </a:xfrm>
          <a:prstGeom prst="rect">
            <a:avLst/>
          </a:prstGeom>
        </p:spPr>
        <p:txBody>
          <a:bodyPr anchor="t" rtlCol="false" tIns="0" lIns="0" bIns="0" rIns="0">
            <a:spAutoFit/>
          </a:bodyPr>
          <a:lstStyle/>
          <a:p>
            <a:pPr algn="just">
              <a:lnSpc>
                <a:spcPts val="3493"/>
              </a:lnSpc>
            </a:pPr>
            <a:r>
              <a:rPr lang="en-US" sz="2495" spc="49">
                <a:solidFill>
                  <a:srgbClr val="FFFFFF"/>
                </a:solidFill>
                <a:latin typeface="Ubuntu"/>
                <a:ea typeface="Ubuntu"/>
                <a:cs typeface="Ubuntu"/>
                <a:sym typeface="Ubuntu"/>
              </a:rPr>
              <a:t>FUNCT</a:t>
            </a:r>
            <a:r>
              <a:rPr lang="en-US" sz="2495" spc="49">
                <a:solidFill>
                  <a:srgbClr val="FFFFFF"/>
                </a:solidFill>
                <a:latin typeface="Ubuntu"/>
                <a:ea typeface="Ubuntu"/>
                <a:cs typeface="Ubuntu"/>
                <a:sym typeface="Ubuntu"/>
              </a:rPr>
              <a:t>ION aggregator_thread():</a:t>
            </a:r>
          </a:p>
          <a:p>
            <a:pPr algn="just" marL="0" indent="0" lvl="0">
              <a:lnSpc>
                <a:spcPts val="3493"/>
              </a:lnSpc>
              <a:spcBef>
                <a:spcPct val="0"/>
              </a:spcBef>
            </a:pPr>
            <a:r>
              <a:rPr lang="en-US" sz="2495" spc="49">
                <a:solidFill>
                  <a:srgbClr val="FFFFFF"/>
                </a:solidFill>
                <a:latin typeface="Ubuntu"/>
                <a:ea typeface="Ubuntu"/>
                <a:cs typeface="Ubuntu"/>
                <a:sym typeface="Ubuntu"/>
              </a:rPr>
              <a:t>WHILE</a:t>
            </a:r>
            <a:r>
              <a:rPr lang="en-US" sz="2495" spc="49">
                <a:solidFill>
                  <a:srgbClr val="FFFFFF"/>
                </a:solidFill>
                <a:latin typeface="Ubuntu"/>
                <a:ea typeface="Ubuntu"/>
                <a:cs typeface="Ubuntu"/>
                <a:sym typeface="Ubuntu"/>
              </a:rPr>
              <a:t> TRUE:</a:t>
            </a:r>
          </a:p>
          <a:p>
            <a:pPr algn="just" marL="0" indent="0" lvl="0">
              <a:lnSpc>
                <a:spcPts val="3493"/>
              </a:lnSpc>
              <a:spcBef>
                <a:spcPct val="0"/>
              </a:spcBef>
            </a:pPr>
            <a:r>
              <a:rPr lang="en-US" sz="2495" spc="49">
                <a:solidFill>
                  <a:srgbClr val="FFFFFF"/>
                </a:solidFill>
                <a:latin typeface="Ubuntu"/>
                <a:ea typeface="Ubuntu"/>
                <a:cs typeface="Ubuntu"/>
                <a:sym typeface="Ubuntu"/>
              </a:rPr>
              <a:t> msg = RECEIVE from channel</a:t>
            </a:r>
          </a:p>
          <a:p>
            <a:pPr algn="just" marL="0" indent="0" lvl="0">
              <a:lnSpc>
                <a:spcPts val="3493"/>
              </a:lnSpc>
              <a:spcBef>
                <a:spcPct val="0"/>
              </a:spcBef>
            </a:pPr>
            <a:r>
              <a:rPr lang="en-US" sz="2495" spc="49">
                <a:solidFill>
                  <a:srgbClr val="FFFFFF"/>
                </a:solidFill>
                <a:latin typeface="Ubuntu"/>
                <a:ea typeface="Ubuntu"/>
                <a:cs typeface="Ubuntu"/>
                <a:sym typeface="Ubuntu"/>
              </a:rPr>
              <a:t> recv_time = current_time()</a:t>
            </a:r>
          </a:p>
          <a:p>
            <a:pPr algn="just" marL="0" indent="0" lvl="0">
              <a:lnSpc>
                <a:spcPts val="3493"/>
              </a:lnSpc>
              <a:spcBef>
                <a:spcPct val="0"/>
              </a:spcBef>
            </a:pPr>
            <a:r>
              <a:rPr lang="en-US" sz="2495" spc="49">
                <a:solidFill>
                  <a:srgbClr val="FFFFFF"/>
                </a:solidFill>
                <a:latin typeface="Ubuntu"/>
                <a:ea typeface="Ubuntu"/>
                <a:cs typeface="Ubuntu"/>
                <a:sym typeface="Ubuntu"/>
              </a:rPr>
              <a:t> latency = recv_time - msg.send_time</a:t>
            </a:r>
          </a:p>
          <a:p>
            <a:pPr algn="just" marL="0" indent="0" lvl="0">
              <a:lnSpc>
                <a:spcPts val="3493"/>
              </a:lnSpc>
              <a:spcBef>
                <a:spcPct val="0"/>
              </a:spcBef>
            </a:pPr>
            <a:r>
              <a:rPr lang="en-US" sz="2495" spc="49">
                <a:solidFill>
                  <a:srgbClr val="FFFFFF"/>
                </a:solidFill>
                <a:latin typeface="Ubuntu"/>
                <a:ea typeface="Ubuntu"/>
                <a:cs typeface="Ubuntu"/>
                <a:sym typeface="Ubuntu"/>
              </a:rPr>
              <a:t> PRINT id, latency</a:t>
            </a:r>
          </a:p>
          <a:p>
            <a:pPr algn="just" marL="0" indent="0" lvl="0">
              <a:lnSpc>
                <a:spcPts val="3493"/>
              </a:lnSpc>
              <a:spcBef>
                <a:spcPct val="0"/>
              </a:spcBef>
            </a:pPr>
            <a:r>
              <a:rPr lang="en-US" sz="2495" spc="49">
                <a:solidFill>
                  <a:srgbClr val="FFFFFF"/>
                </a:solidFill>
                <a:latin typeface="Ubuntu"/>
                <a:ea typeface="Ubuntu"/>
                <a:cs typeface="Ubuntu"/>
                <a:sym typeface="Ubuntu"/>
              </a:rPr>
              <a:t>END WHILE</a:t>
            </a:r>
          </a:p>
          <a:p>
            <a:pPr algn="just" marL="0" indent="0" lvl="0">
              <a:lnSpc>
                <a:spcPts val="3493"/>
              </a:lnSpc>
              <a:spcBef>
                <a:spcPct val="0"/>
              </a:spcBef>
            </a:pPr>
            <a:r>
              <a:rPr lang="en-US" sz="2495" spc="49">
                <a:solidFill>
                  <a:srgbClr val="FFFFFF"/>
                </a:solidFill>
                <a:latin typeface="Ubuntu"/>
                <a:ea typeface="Ubuntu"/>
                <a:cs typeface="Ubuntu"/>
                <a:sym typeface="Ubuntu"/>
              </a:rPr>
              <a:t>---------------------------------</a:t>
            </a:r>
          </a:p>
          <a:p>
            <a:pPr algn="just" marL="0" indent="0" lvl="0">
              <a:lnSpc>
                <a:spcPts val="3493"/>
              </a:lnSpc>
              <a:spcBef>
                <a:spcPct val="0"/>
              </a:spcBef>
            </a:pPr>
            <a:r>
              <a:rPr lang="en-US" sz="2495" spc="49">
                <a:solidFill>
                  <a:srgbClr val="FFFFFF"/>
                </a:solidFill>
                <a:latin typeface="Ubuntu"/>
                <a:ea typeface="Ubuntu"/>
                <a:cs typeface="Ubuntu"/>
                <a:sym typeface="Ubuntu"/>
              </a:rPr>
              <a:t>SCHEDULER EFFECT:</a:t>
            </a:r>
          </a:p>
          <a:p>
            <a:pPr algn="just" marL="0" indent="0" lvl="0">
              <a:lnSpc>
                <a:spcPts val="3493"/>
              </a:lnSpc>
              <a:spcBef>
                <a:spcPct val="0"/>
              </a:spcBef>
            </a:pPr>
            <a:r>
              <a:rPr lang="en-US" sz="2495" spc="49">
                <a:solidFill>
                  <a:srgbClr val="FFFFFF"/>
                </a:solidFill>
                <a:latin typeface="Ubuntu"/>
                <a:ea typeface="Ubuntu"/>
                <a:cs typeface="Ubuntu"/>
                <a:sym typeface="Ubuntu"/>
              </a:rPr>
              <a:t>IF QNX:</a:t>
            </a:r>
          </a:p>
          <a:p>
            <a:pPr algn="just" marL="0" indent="0" lvl="0">
              <a:lnSpc>
                <a:spcPts val="3493"/>
              </a:lnSpc>
              <a:spcBef>
                <a:spcPct val="0"/>
              </a:spcBef>
            </a:pPr>
            <a:r>
              <a:rPr lang="en-US" sz="2495" spc="49">
                <a:solidFill>
                  <a:srgbClr val="FFFFFF"/>
                </a:solidFill>
                <a:latin typeface="Ubuntu"/>
                <a:ea typeface="Ubuntu"/>
                <a:cs typeface="Ubuntu"/>
                <a:sym typeface="Ubuntu"/>
              </a:rPr>
              <a:t> latency → low, stable</a:t>
            </a:r>
          </a:p>
          <a:p>
            <a:pPr algn="just" marL="0" indent="0" lvl="0">
              <a:lnSpc>
                <a:spcPts val="3493"/>
              </a:lnSpc>
              <a:spcBef>
                <a:spcPct val="0"/>
              </a:spcBef>
            </a:pPr>
            <a:r>
              <a:rPr lang="en-US" sz="2495" spc="49">
                <a:solidFill>
                  <a:srgbClr val="FFFFFF"/>
                </a:solidFill>
                <a:latin typeface="Ubuntu"/>
                <a:ea typeface="Ubuntu"/>
                <a:cs typeface="Ubuntu"/>
                <a:sym typeface="Ubuntu"/>
              </a:rPr>
              <a:t> execution → deterministic</a:t>
            </a:r>
          </a:p>
          <a:p>
            <a:pPr algn="just" marL="0" indent="0" lvl="0">
              <a:lnSpc>
                <a:spcPts val="3493"/>
              </a:lnSpc>
              <a:spcBef>
                <a:spcPct val="0"/>
              </a:spcBef>
            </a:pPr>
            <a:r>
              <a:rPr lang="en-US" sz="2495" spc="49">
                <a:solidFill>
                  <a:srgbClr val="FFFFFF"/>
                </a:solidFill>
                <a:latin typeface="Ubuntu"/>
                <a:ea typeface="Ubuntu"/>
                <a:cs typeface="Ubuntu"/>
                <a:sym typeface="Ubuntu"/>
              </a:rPr>
              <a:t>IF Linux:</a:t>
            </a:r>
          </a:p>
          <a:p>
            <a:pPr algn="just" marL="0" indent="0" lvl="0">
              <a:lnSpc>
                <a:spcPts val="3493"/>
              </a:lnSpc>
              <a:spcBef>
                <a:spcPct val="0"/>
              </a:spcBef>
            </a:pPr>
            <a:r>
              <a:rPr lang="en-US" sz="2495" spc="49">
                <a:solidFill>
                  <a:srgbClr val="FFFFFF"/>
                </a:solidFill>
                <a:latin typeface="Ubuntu"/>
                <a:ea typeface="Ubuntu"/>
                <a:cs typeface="Ubuntu"/>
                <a:sym typeface="Ubuntu"/>
              </a:rPr>
              <a:t> latency → high, variable</a:t>
            </a:r>
          </a:p>
          <a:p>
            <a:pPr algn="just" marL="0" indent="0" lvl="0">
              <a:lnSpc>
                <a:spcPts val="3493"/>
              </a:lnSpc>
              <a:spcBef>
                <a:spcPct val="0"/>
              </a:spcBef>
            </a:pPr>
            <a:r>
              <a:rPr lang="en-US" sz="2495" spc="49">
                <a:solidFill>
                  <a:srgbClr val="FFFFFF"/>
                </a:solidFill>
                <a:latin typeface="Ubuntu"/>
                <a:ea typeface="Ubuntu"/>
                <a:cs typeface="Ubuntu"/>
                <a:sym typeface="Ubuntu"/>
              </a:rPr>
              <a:t> execution → non-deterministic</a:t>
            </a:r>
          </a:p>
          <a:p>
            <a:pPr algn="just" marL="0" indent="0" lvl="0">
              <a:lnSpc>
                <a:spcPts val="3493"/>
              </a:lnSpc>
              <a:spcBef>
                <a:spcPct val="0"/>
              </a:spcBef>
            </a:pPr>
            <a:r>
              <a:rPr lang="en-US" sz="2495" spc="49">
                <a:solidFill>
                  <a:srgbClr val="FFFFFF"/>
                </a:solidFill>
                <a:latin typeface="Ubuntu"/>
                <a:ea typeface="Ubuntu"/>
                <a:cs typeface="Ubuntu"/>
                <a:sym typeface="Ubuntu"/>
              </a:rPr>
              <a:t>END SYSTEM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5663376" y="1560100"/>
            <a:ext cx="6520149" cy="8579143"/>
          </a:xfrm>
          <a:custGeom>
            <a:avLst/>
            <a:gdLst/>
            <a:ahLst/>
            <a:cxnLst/>
            <a:rect r="r" b="b" t="t" l="l"/>
            <a:pathLst>
              <a:path h="8579143" w="6520149">
                <a:moveTo>
                  <a:pt x="0" y="0"/>
                </a:moveTo>
                <a:lnTo>
                  <a:pt x="6520149" y="0"/>
                </a:lnTo>
                <a:lnTo>
                  <a:pt x="6520149" y="8579143"/>
                </a:lnTo>
                <a:lnTo>
                  <a:pt x="0" y="8579143"/>
                </a:lnTo>
                <a:lnTo>
                  <a:pt x="0" y="0"/>
                </a:lnTo>
                <a:close/>
              </a:path>
            </a:pathLst>
          </a:custGeom>
          <a:blipFill>
            <a:blip r:embed="rId3"/>
            <a:stretch>
              <a:fillRect l="0" t="0" r="0" b="0"/>
            </a:stretch>
          </a:blipFill>
        </p:spPr>
      </p:sp>
      <p:sp>
        <p:nvSpPr>
          <p:cNvPr name="TextBox 4" id="4"/>
          <p:cNvSpPr txBox="true"/>
          <p:nvPr/>
        </p:nvSpPr>
        <p:spPr>
          <a:xfrm rot="0">
            <a:off x="1028700" y="1365325"/>
            <a:ext cx="2755263"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FLOW CHART</a:t>
            </a:r>
          </a:p>
        </p:txBody>
      </p:sp>
      <p:sp>
        <p:nvSpPr>
          <p:cNvPr name="TextBox 5" id="5"/>
          <p:cNvSpPr txBox="true"/>
          <p:nvPr/>
        </p:nvSpPr>
        <p:spPr>
          <a:xfrm rot="0">
            <a:off x="718982" y="237143"/>
            <a:ext cx="6783856" cy="791557"/>
          </a:xfrm>
          <a:prstGeom prst="rect">
            <a:avLst/>
          </a:prstGeom>
        </p:spPr>
        <p:txBody>
          <a:bodyPr anchor="t" rtlCol="false" tIns="0" lIns="0" bIns="0" rIns="0">
            <a:spAutoFit/>
          </a:bodyPr>
          <a:lstStyle/>
          <a:p>
            <a:pPr algn="l" marL="0" indent="0" lvl="0">
              <a:lnSpc>
                <a:spcPts val="6188"/>
              </a:lnSpc>
              <a:spcBef>
                <a:spcPct val="0"/>
              </a:spcBef>
            </a:pPr>
            <a:r>
              <a:rPr lang="en-US" sz="5157" spc="103">
                <a:solidFill>
                  <a:srgbClr val="FFFFFF"/>
                </a:solidFill>
                <a:latin typeface="Archivo Black"/>
                <a:ea typeface="Archivo Black"/>
                <a:cs typeface="Archivo Black"/>
                <a:sym typeface="Archivo Black"/>
              </a:rPr>
              <a:t>VERSION 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1238718" y="3210343"/>
            <a:ext cx="4853682" cy="2528762"/>
            <a:chOff x="0" y="0"/>
            <a:chExt cx="1278336" cy="666011"/>
          </a:xfrm>
        </p:grpSpPr>
        <p:sp>
          <p:nvSpPr>
            <p:cNvPr name="Freeform 4" id="4"/>
            <p:cNvSpPr/>
            <p:nvPr/>
          </p:nvSpPr>
          <p:spPr>
            <a:xfrm flipH="false" flipV="false" rot="0">
              <a:off x="0" y="0"/>
              <a:ext cx="1278336" cy="666011"/>
            </a:xfrm>
            <a:custGeom>
              <a:avLst/>
              <a:gdLst/>
              <a:ahLst/>
              <a:cxnLst/>
              <a:rect r="r" b="b" t="t" l="l"/>
              <a:pathLst>
                <a:path h="666011" w="1278336">
                  <a:moveTo>
                    <a:pt x="0" y="0"/>
                  </a:moveTo>
                  <a:lnTo>
                    <a:pt x="1278336" y="0"/>
                  </a:lnTo>
                  <a:lnTo>
                    <a:pt x="1278336" y="666011"/>
                  </a:lnTo>
                  <a:lnTo>
                    <a:pt x="0" y="666011"/>
                  </a:lnTo>
                  <a:close/>
                </a:path>
              </a:pathLst>
            </a:custGeom>
            <a:solidFill>
              <a:srgbClr val="222548">
                <a:alpha val="69804"/>
              </a:srgbClr>
            </a:solidFill>
          </p:spPr>
        </p:sp>
        <p:sp>
          <p:nvSpPr>
            <p:cNvPr name="TextBox 5" id="5"/>
            <p:cNvSpPr txBox="true"/>
            <p:nvPr/>
          </p:nvSpPr>
          <p:spPr>
            <a:xfrm>
              <a:off x="0" y="-57150"/>
              <a:ext cx="1278336" cy="723161"/>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6634769" y="3210343"/>
            <a:ext cx="4853682" cy="2528762"/>
            <a:chOff x="0" y="0"/>
            <a:chExt cx="1278336" cy="666011"/>
          </a:xfrm>
        </p:grpSpPr>
        <p:sp>
          <p:nvSpPr>
            <p:cNvPr name="Freeform 7" id="7"/>
            <p:cNvSpPr/>
            <p:nvPr/>
          </p:nvSpPr>
          <p:spPr>
            <a:xfrm flipH="false" flipV="false" rot="0">
              <a:off x="0" y="0"/>
              <a:ext cx="1278336" cy="666011"/>
            </a:xfrm>
            <a:custGeom>
              <a:avLst/>
              <a:gdLst/>
              <a:ahLst/>
              <a:cxnLst/>
              <a:rect r="r" b="b" t="t" l="l"/>
              <a:pathLst>
                <a:path h="666011" w="1278336">
                  <a:moveTo>
                    <a:pt x="0" y="0"/>
                  </a:moveTo>
                  <a:lnTo>
                    <a:pt x="1278336" y="0"/>
                  </a:lnTo>
                  <a:lnTo>
                    <a:pt x="1278336" y="666011"/>
                  </a:lnTo>
                  <a:lnTo>
                    <a:pt x="0" y="666011"/>
                  </a:lnTo>
                  <a:close/>
                </a:path>
              </a:pathLst>
            </a:custGeom>
            <a:solidFill>
              <a:srgbClr val="222548">
                <a:alpha val="69804"/>
              </a:srgbClr>
            </a:solidFill>
          </p:spPr>
        </p:sp>
        <p:sp>
          <p:nvSpPr>
            <p:cNvPr name="TextBox 8" id="8"/>
            <p:cNvSpPr txBox="true"/>
            <p:nvPr/>
          </p:nvSpPr>
          <p:spPr>
            <a:xfrm>
              <a:off x="0" y="-57150"/>
              <a:ext cx="1278336" cy="723161"/>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12030820" y="3210343"/>
            <a:ext cx="4853682" cy="2528762"/>
            <a:chOff x="0" y="0"/>
            <a:chExt cx="1278336" cy="666011"/>
          </a:xfrm>
        </p:grpSpPr>
        <p:sp>
          <p:nvSpPr>
            <p:cNvPr name="Freeform 10" id="10"/>
            <p:cNvSpPr/>
            <p:nvPr/>
          </p:nvSpPr>
          <p:spPr>
            <a:xfrm flipH="false" flipV="false" rot="0">
              <a:off x="0" y="0"/>
              <a:ext cx="1278336" cy="666011"/>
            </a:xfrm>
            <a:custGeom>
              <a:avLst/>
              <a:gdLst/>
              <a:ahLst/>
              <a:cxnLst/>
              <a:rect r="r" b="b" t="t" l="l"/>
              <a:pathLst>
                <a:path h="666011" w="1278336">
                  <a:moveTo>
                    <a:pt x="0" y="0"/>
                  </a:moveTo>
                  <a:lnTo>
                    <a:pt x="1278336" y="0"/>
                  </a:lnTo>
                  <a:lnTo>
                    <a:pt x="1278336" y="666011"/>
                  </a:lnTo>
                  <a:lnTo>
                    <a:pt x="0" y="666011"/>
                  </a:lnTo>
                  <a:close/>
                </a:path>
              </a:pathLst>
            </a:custGeom>
            <a:solidFill>
              <a:srgbClr val="222548">
                <a:alpha val="69804"/>
              </a:srgbClr>
            </a:solidFill>
          </p:spPr>
        </p:sp>
        <p:sp>
          <p:nvSpPr>
            <p:cNvPr name="TextBox 11" id="11"/>
            <p:cNvSpPr txBox="true"/>
            <p:nvPr/>
          </p:nvSpPr>
          <p:spPr>
            <a:xfrm>
              <a:off x="0" y="-57150"/>
              <a:ext cx="1278336" cy="723161"/>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238718" y="6326165"/>
            <a:ext cx="4853682" cy="2528762"/>
            <a:chOff x="0" y="0"/>
            <a:chExt cx="1278336" cy="666011"/>
          </a:xfrm>
        </p:grpSpPr>
        <p:sp>
          <p:nvSpPr>
            <p:cNvPr name="Freeform 13" id="13"/>
            <p:cNvSpPr/>
            <p:nvPr/>
          </p:nvSpPr>
          <p:spPr>
            <a:xfrm flipH="false" flipV="false" rot="0">
              <a:off x="0" y="0"/>
              <a:ext cx="1278336" cy="666011"/>
            </a:xfrm>
            <a:custGeom>
              <a:avLst/>
              <a:gdLst/>
              <a:ahLst/>
              <a:cxnLst/>
              <a:rect r="r" b="b" t="t" l="l"/>
              <a:pathLst>
                <a:path h="666011" w="1278336">
                  <a:moveTo>
                    <a:pt x="0" y="0"/>
                  </a:moveTo>
                  <a:lnTo>
                    <a:pt x="1278336" y="0"/>
                  </a:lnTo>
                  <a:lnTo>
                    <a:pt x="1278336" y="666011"/>
                  </a:lnTo>
                  <a:lnTo>
                    <a:pt x="0" y="666011"/>
                  </a:lnTo>
                  <a:close/>
                </a:path>
              </a:pathLst>
            </a:custGeom>
            <a:solidFill>
              <a:srgbClr val="222548">
                <a:alpha val="69804"/>
              </a:srgbClr>
            </a:solidFill>
          </p:spPr>
        </p:sp>
        <p:sp>
          <p:nvSpPr>
            <p:cNvPr name="TextBox 14" id="14"/>
            <p:cNvSpPr txBox="true"/>
            <p:nvPr/>
          </p:nvSpPr>
          <p:spPr>
            <a:xfrm>
              <a:off x="0" y="-57150"/>
              <a:ext cx="1278336" cy="723161"/>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6634769" y="6326165"/>
            <a:ext cx="4853682" cy="2528762"/>
            <a:chOff x="0" y="0"/>
            <a:chExt cx="1278336" cy="666011"/>
          </a:xfrm>
        </p:grpSpPr>
        <p:sp>
          <p:nvSpPr>
            <p:cNvPr name="Freeform 16" id="16"/>
            <p:cNvSpPr/>
            <p:nvPr/>
          </p:nvSpPr>
          <p:spPr>
            <a:xfrm flipH="false" flipV="false" rot="0">
              <a:off x="0" y="0"/>
              <a:ext cx="1278336" cy="666011"/>
            </a:xfrm>
            <a:custGeom>
              <a:avLst/>
              <a:gdLst/>
              <a:ahLst/>
              <a:cxnLst/>
              <a:rect r="r" b="b" t="t" l="l"/>
              <a:pathLst>
                <a:path h="666011" w="1278336">
                  <a:moveTo>
                    <a:pt x="0" y="0"/>
                  </a:moveTo>
                  <a:lnTo>
                    <a:pt x="1278336" y="0"/>
                  </a:lnTo>
                  <a:lnTo>
                    <a:pt x="1278336" y="666011"/>
                  </a:lnTo>
                  <a:lnTo>
                    <a:pt x="0" y="666011"/>
                  </a:lnTo>
                  <a:close/>
                </a:path>
              </a:pathLst>
            </a:custGeom>
            <a:solidFill>
              <a:srgbClr val="222548">
                <a:alpha val="69804"/>
              </a:srgbClr>
            </a:solidFill>
          </p:spPr>
        </p:sp>
        <p:sp>
          <p:nvSpPr>
            <p:cNvPr name="TextBox 17" id="17"/>
            <p:cNvSpPr txBox="true"/>
            <p:nvPr/>
          </p:nvSpPr>
          <p:spPr>
            <a:xfrm>
              <a:off x="0" y="-57150"/>
              <a:ext cx="1278336" cy="723161"/>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2030820" y="6326165"/>
            <a:ext cx="4853682" cy="2528762"/>
            <a:chOff x="0" y="0"/>
            <a:chExt cx="1278336" cy="666011"/>
          </a:xfrm>
        </p:grpSpPr>
        <p:sp>
          <p:nvSpPr>
            <p:cNvPr name="Freeform 19" id="19"/>
            <p:cNvSpPr/>
            <p:nvPr/>
          </p:nvSpPr>
          <p:spPr>
            <a:xfrm flipH="false" flipV="false" rot="0">
              <a:off x="0" y="0"/>
              <a:ext cx="1278336" cy="666011"/>
            </a:xfrm>
            <a:custGeom>
              <a:avLst/>
              <a:gdLst/>
              <a:ahLst/>
              <a:cxnLst/>
              <a:rect r="r" b="b" t="t" l="l"/>
              <a:pathLst>
                <a:path h="666011" w="1278336">
                  <a:moveTo>
                    <a:pt x="0" y="0"/>
                  </a:moveTo>
                  <a:lnTo>
                    <a:pt x="1278336" y="0"/>
                  </a:lnTo>
                  <a:lnTo>
                    <a:pt x="1278336" y="666011"/>
                  </a:lnTo>
                  <a:lnTo>
                    <a:pt x="0" y="666011"/>
                  </a:lnTo>
                  <a:close/>
                </a:path>
              </a:pathLst>
            </a:custGeom>
            <a:solidFill>
              <a:srgbClr val="222548">
                <a:alpha val="69804"/>
              </a:srgbClr>
            </a:solidFill>
          </p:spPr>
        </p:sp>
        <p:sp>
          <p:nvSpPr>
            <p:cNvPr name="TextBox 20" id="20"/>
            <p:cNvSpPr txBox="true"/>
            <p:nvPr/>
          </p:nvSpPr>
          <p:spPr>
            <a:xfrm>
              <a:off x="0" y="-57150"/>
              <a:ext cx="1278336" cy="723161"/>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1423283" y="4210457"/>
            <a:ext cx="4484551" cy="819150"/>
          </a:xfrm>
          <a:prstGeom prst="rect">
            <a:avLst/>
          </a:prstGeom>
        </p:spPr>
        <p:txBody>
          <a:bodyPr anchor="t" rtlCol="false" tIns="0" lIns="0" bIns="0" rIns="0">
            <a:spAutoFit/>
          </a:bodyPr>
          <a:lstStyle/>
          <a:p>
            <a:pPr algn="ctr" marL="0" indent="0" lvl="0">
              <a:lnSpc>
                <a:spcPts val="2158"/>
              </a:lnSpc>
            </a:pPr>
            <a:r>
              <a:rPr lang="en-US" sz="1798" spc="35">
                <a:solidFill>
                  <a:srgbClr val="FFFFFF"/>
                </a:solidFill>
                <a:latin typeface="Ubuntu"/>
                <a:ea typeface="Ubuntu"/>
                <a:cs typeface="Ubuntu"/>
                <a:sym typeface="Ubuntu"/>
              </a:rPr>
              <a:t>Core 2 allocation. Processes camera feeds, LiDAR point clouds, and optical sensors for environmental perception.</a:t>
            </a:r>
          </a:p>
        </p:txBody>
      </p:sp>
      <p:sp>
        <p:nvSpPr>
          <p:cNvPr name="TextBox 22" id="22"/>
          <p:cNvSpPr txBox="true"/>
          <p:nvPr/>
        </p:nvSpPr>
        <p:spPr>
          <a:xfrm rot="0">
            <a:off x="1835234" y="3478734"/>
            <a:ext cx="3660648" cy="466476"/>
          </a:xfrm>
          <a:prstGeom prst="rect">
            <a:avLst/>
          </a:prstGeom>
        </p:spPr>
        <p:txBody>
          <a:bodyPr anchor="t" rtlCol="false" tIns="0" lIns="0" bIns="0" rIns="0">
            <a:spAutoFit/>
          </a:bodyPr>
          <a:lstStyle/>
          <a:p>
            <a:pPr algn="ctr" marL="0" indent="0" lvl="0">
              <a:lnSpc>
                <a:spcPts val="3688"/>
              </a:lnSpc>
              <a:spcBef>
                <a:spcPct val="0"/>
              </a:spcBef>
            </a:pPr>
            <a:r>
              <a:rPr lang="en-US" b="true" sz="2634" spc="131">
                <a:solidFill>
                  <a:srgbClr val="FFFFFF"/>
                </a:solidFill>
                <a:latin typeface="Ubuntu Bold"/>
                <a:ea typeface="Ubuntu Bold"/>
                <a:cs typeface="Ubuntu Bold"/>
                <a:sym typeface="Ubuntu Bold"/>
              </a:rPr>
              <a:t>VISION ZONE</a:t>
            </a:r>
          </a:p>
        </p:txBody>
      </p:sp>
      <p:sp>
        <p:nvSpPr>
          <p:cNvPr name="TextBox 23" id="23"/>
          <p:cNvSpPr txBox="true"/>
          <p:nvPr/>
        </p:nvSpPr>
        <p:spPr>
          <a:xfrm rot="0">
            <a:off x="6819334" y="4210457"/>
            <a:ext cx="4484551" cy="819150"/>
          </a:xfrm>
          <a:prstGeom prst="rect">
            <a:avLst/>
          </a:prstGeom>
        </p:spPr>
        <p:txBody>
          <a:bodyPr anchor="t" rtlCol="false" tIns="0" lIns="0" bIns="0" rIns="0">
            <a:spAutoFit/>
          </a:bodyPr>
          <a:lstStyle/>
          <a:p>
            <a:pPr algn="ctr" marL="0" indent="0" lvl="0">
              <a:lnSpc>
                <a:spcPts val="2158"/>
              </a:lnSpc>
            </a:pPr>
            <a:r>
              <a:rPr lang="en-US" sz="1798" spc="35">
                <a:solidFill>
                  <a:srgbClr val="FFFFFF"/>
                </a:solidFill>
                <a:latin typeface="Ubuntu"/>
                <a:ea typeface="Ubuntu"/>
                <a:cs typeface="Ubuntu"/>
                <a:sym typeface="Ubuntu"/>
              </a:rPr>
              <a:t>Core 1 allocation. Manages 20 radar sensors for velocity detection and obstacle ranging in all conditions.</a:t>
            </a:r>
          </a:p>
        </p:txBody>
      </p:sp>
      <p:sp>
        <p:nvSpPr>
          <p:cNvPr name="TextBox 24" id="24"/>
          <p:cNvSpPr txBox="true"/>
          <p:nvPr/>
        </p:nvSpPr>
        <p:spPr>
          <a:xfrm rot="0">
            <a:off x="7231286" y="3478734"/>
            <a:ext cx="3660648" cy="466476"/>
          </a:xfrm>
          <a:prstGeom prst="rect">
            <a:avLst/>
          </a:prstGeom>
        </p:spPr>
        <p:txBody>
          <a:bodyPr anchor="t" rtlCol="false" tIns="0" lIns="0" bIns="0" rIns="0">
            <a:spAutoFit/>
          </a:bodyPr>
          <a:lstStyle/>
          <a:p>
            <a:pPr algn="ctr" marL="0" indent="0" lvl="0">
              <a:lnSpc>
                <a:spcPts val="3688"/>
              </a:lnSpc>
              <a:spcBef>
                <a:spcPct val="0"/>
              </a:spcBef>
            </a:pPr>
            <a:r>
              <a:rPr lang="en-US" b="true" sz="2634" spc="131">
                <a:solidFill>
                  <a:srgbClr val="FFFFFF"/>
                </a:solidFill>
                <a:latin typeface="Ubuntu Bold"/>
                <a:ea typeface="Ubuntu Bold"/>
                <a:cs typeface="Ubuntu Bold"/>
                <a:sym typeface="Ubuntu Bold"/>
              </a:rPr>
              <a:t>RADAR ZONE</a:t>
            </a:r>
          </a:p>
        </p:txBody>
      </p:sp>
      <p:sp>
        <p:nvSpPr>
          <p:cNvPr name="TextBox 25" id="25"/>
          <p:cNvSpPr txBox="true"/>
          <p:nvPr/>
        </p:nvSpPr>
        <p:spPr>
          <a:xfrm rot="0">
            <a:off x="12215385" y="4210457"/>
            <a:ext cx="4484551" cy="819150"/>
          </a:xfrm>
          <a:prstGeom prst="rect">
            <a:avLst/>
          </a:prstGeom>
        </p:spPr>
        <p:txBody>
          <a:bodyPr anchor="t" rtlCol="false" tIns="0" lIns="0" bIns="0" rIns="0">
            <a:spAutoFit/>
          </a:bodyPr>
          <a:lstStyle/>
          <a:p>
            <a:pPr algn="ctr" marL="0" indent="0" lvl="0">
              <a:lnSpc>
                <a:spcPts val="2158"/>
              </a:lnSpc>
            </a:pPr>
            <a:r>
              <a:rPr lang="en-US" sz="1798" spc="35">
                <a:solidFill>
                  <a:srgbClr val="FFFFFF"/>
                </a:solidFill>
                <a:latin typeface="Ubuntu"/>
                <a:ea typeface="Ubuntu"/>
                <a:cs typeface="Ubuntu"/>
                <a:sym typeface="Ubuntu"/>
              </a:rPr>
              <a:t>Core 3 allocation. Ultrasonic and short-range sensors for near-field object detection and parking assist.</a:t>
            </a:r>
          </a:p>
        </p:txBody>
      </p:sp>
      <p:sp>
        <p:nvSpPr>
          <p:cNvPr name="TextBox 26" id="26"/>
          <p:cNvSpPr txBox="true"/>
          <p:nvPr/>
        </p:nvSpPr>
        <p:spPr>
          <a:xfrm rot="0">
            <a:off x="12627337" y="3478734"/>
            <a:ext cx="3660648" cy="466476"/>
          </a:xfrm>
          <a:prstGeom prst="rect">
            <a:avLst/>
          </a:prstGeom>
        </p:spPr>
        <p:txBody>
          <a:bodyPr anchor="t" rtlCol="false" tIns="0" lIns="0" bIns="0" rIns="0">
            <a:spAutoFit/>
          </a:bodyPr>
          <a:lstStyle/>
          <a:p>
            <a:pPr algn="ctr" marL="0" indent="0" lvl="0">
              <a:lnSpc>
                <a:spcPts val="3688"/>
              </a:lnSpc>
              <a:spcBef>
                <a:spcPct val="0"/>
              </a:spcBef>
            </a:pPr>
            <a:r>
              <a:rPr lang="en-US" b="true" sz="2634" spc="131">
                <a:solidFill>
                  <a:srgbClr val="FFFFFF"/>
                </a:solidFill>
                <a:latin typeface="Ubuntu Bold"/>
                <a:ea typeface="Ubuntu Bold"/>
                <a:cs typeface="Ubuntu Bold"/>
                <a:sym typeface="Ubuntu Bold"/>
              </a:rPr>
              <a:t>PROXIMITY ZONE</a:t>
            </a:r>
          </a:p>
        </p:txBody>
      </p:sp>
      <p:sp>
        <p:nvSpPr>
          <p:cNvPr name="TextBox 27" id="27"/>
          <p:cNvSpPr txBox="true"/>
          <p:nvPr/>
        </p:nvSpPr>
        <p:spPr>
          <a:xfrm rot="0">
            <a:off x="1423283" y="7374937"/>
            <a:ext cx="4484551" cy="819150"/>
          </a:xfrm>
          <a:prstGeom prst="rect">
            <a:avLst/>
          </a:prstGeom>
        </p:spPr>
        <p:txBody>
          <a:bodyPr anchor="t" rtlCol="false" tIns="0" lIns="0" bIns="0" rIns="0">
            <a:spAutoFit/>
          </a:bodyPr>
          <a:lstStyle/>
          <a:p>
            <a:pPr algn="ctr" marL="0" indent="0" lvl="0">
              <a:lnSpc>
                <a:spcPts val="2158"/>
              </a:lnSpc>
            </a:pPr>
            <a:r>
              <a:rPr lang="en-US" sz="1798" spc="35">
                <a:solidFill>
                  <a:srgbClr val="FFFFFF"/>
                </a:solidFill>
                <a:latin typeface="Ubuntu"/>
                <a:ea typeface="Ubuntu"/>
                <a:cs typeface="Ubuntu"/>
                <a:sym typeface="Ubuntu"/>
              </a:rPr>
              <a:t>Core 0 allocation. Monitors vehicle health: temperature, pressure, battery status, and system diagnostics.</a:t>
            </a:r>
          </a:p>
        </p:txBody>
      </p:sp>
      <p:sp>
        <p:nvSpPr>
          <p:cNvPr name="TextBox 28" id="28"/>
          <p:cNvSpPr txBox="true"/>
          <p:nvPr/>
        </p:nvSpPr>
        <p:spPr>
          <a:xfrm rot="0">
            <a:off x="1835234" y="6643214"/>
            <a:ext cx="3660648" cy="466476"/>
          </a:xfrm>
          <a:prstGeom prst="rect">
            <a:avLst/>
          </a:prstGeom>
        </p:spPr>
        <p:txBody>
          <a:bodyPr anchor="t" rtlCol="false" tIns="0" lIns="0" bIns="0" rIns="0">
            <a:spAutoFit/>
          </a:bodyPr>
          <a:lstStyle/>
          <a:p>
            <a:pPr algn="ctr" marL="0" indent="0" lvl="0">
              <a:lnSpc>
                <a:spcPts val="3688"/>
              </a:lnSpc>
              <a:spcBef>
                <a:spcPct val="0"/>
              </a:spcBef>
            </a:pPr>
            <a:r>
              <a:rPr lang="en-US" b="true" sz="2634" spc="131">
                <a:solidFill>
                  <a:srgbClr val="FFFFFF"/>
                </a:solidFill>
                <a:latin typeface="Ubuntu Bold"/>
                <a:ea typeface="Ubuntu Bold"/>
                <a:cs typeface="Ubuntu Bold"/>
                <a:sym typeface="Ubuntu Bold"/>
              </a:rPr>
              <a:t>VITALS ZONE</a:t>
            </a:r>
          </a:p>
        </p:txBody>
      </p:sp>
      <p:sp>
        <p:nvSpPr>
          <p:cNvPr name="TextBox 29" id="29"/>
          <p:cNvSpPr txBox="true"/>
          <p:nvPr/>
        </p:nvSpPr>
        <p:spPr>
          <a:xfrm rot="0">
            <a:off x="6819334" y="7374937"/>
            <a:ext cx="4484551" cy="819150"/>
          </a:xfrm>
          <a:prstGeom prst="rect">
            <a:avLst/>
          </a:prstGeom>
        </p:spPr>
        <p:txBody>
          <a:bodyPr anchor="t" rtlCol="false" tIns="0" lIns="0" bIns="0" rIns="0">
            <a:spAutoFit/>
          </a:bodyPr>
          <a:lstStyle/>
          <a:p>
            <a:pPr algn="ctr" marL="0" indent="0" lvl="0">
              <a:lnSpc>
                <a:spcPts val="2158"/>
              </a:lnSpc>
            </a:pPr>
            <a:r>
              <a:rPr lang="en-US" sz="1798" spc="35">
                <a:solidFill>
                  <a:srgbClr val="FFFFFF"/>
                </a:solidFill>
                <a:latin typeface="Ubuntu"/>
                <a:ea typeface="Ubuntu"/>
                <a:cs typeface="Ubuntu"/>
                <a:sym typeface="Ubuntu"/>
              </a:rPr>
              <a:t>Cores 4-7 dedicated. Central aggregation node receiving deterministic streams from all four zones.</a:t>
            </a:r>
          </a:p>
        </p:txBody>
      </p:sp>
      <p:sp>
        <p:nvSpPr>
          <p:cNvPr name="TextBox 30" id="30"/>
          <p:cNvSpPr txBox="true"/>
          <p:nvPr/>
        </p:nvSpPr>
        <p:spPr>
          <a:xfrm rot="0">
            <a:off x="7231286" y="6643214"/>
            <a:ext cx="3660648" cy="466476"/>
          </a:xfrm>
          <a:prstGeom prst="rect">
            <a:avLst/>
          </a:prstGeom>
        </p:spPr>
        <p:txBody>
          <a:bodyPr anchor="t" rtlCol="false" tIns="0" lIns="0" bIns="0" rIns="0">
            <a:spAutoFit/>
          </a:bodyPr>
          <a:lstStyle/>
          <a:p>
            <a:pPr algn="ctr" marL="0" indent="0" lvl="0">
              <a:lnSpc>
                <a:spcPts val="3688"/>
              </a:lnSpc>
              <a:spcBef>
                <a:spcPct val="0"/>
              </a:spcBef>
            </a:pPr>
            <a:r>
              <a:rPr lang="en-US" b="true" sz="2634" spc="131">
                <a:solidFill>
                  <a:srgbClr val="FFFFFF"/>
                </a:solidFill>
                <a:latin typeface="Ubuntu Bold"/>
                <a:ea typeface="Ubuntu Bold"/>
                <a:cs typeface="Ubuntu Bold"/>
                <a:sym typeface="Ubuntu Bold"/>
              </a:rPr>
              <a:t>FUSION ENGINE</a:t>
            </a:r>
          </a:p>
        </p:txBody>
      </p:sp>
      <p:sp>
        <p:nvSpPr>
          <p:cNvPr name="TextBox 31" id="31"/>
          <p:cNvSpPr txBox="true"/>
          <p:nvPr/>
        </p:nvSpPr>
        <p:spPr>
          <a:xfrm rot="0">
            <a:off x="12215385" y="7374937"/>
            <a:ext cx="4484551" cy="819150"/>
          </a:xfrm>
          <a:prstGeom prst="rect">
            <a:avLst/>
          </a:prstGeom>
        </p:spPr>
        <p:txBody>
          <a:bodyPr anchor="t" rtlCol="false" tIns="0" lIns="0" bIns="0" rIns="0">
            <a:spAutoFit/>
          </a:bodyPr>
          <a:lstStyle/>
          <a:p>
            <a:pPr algn="ctr" marL="0" indent="0" lvl="0">
              <a:lnSpc>
                <a:spcPts val="2158"/>
              </a:lnSpc>
            </a:pPr>
            <a:r>
              <a:rPr lang="en-US" sz="1798" spc="35">
                <a:solidFill>
                  <a:srgbClr val="FFFFFF"/>
                </a:solidFill>
                <a:latin typeface="Ubuntu"/>
                <a:ea typeface="Ubuntu"/>
                <a:cs typeface="Ubuntu"/>
                <a:sym typeface="Ubuntu"/>
              </a:rPr>
              <a:t>Click any zone to reveal core assignments, sensor lists, and real-time data flow visualization.</a:t>
            </a:r>
          </a:p>
        </p:txBody>
      </p:sp>
      <p:sp>
        <p:nvSpPr>
          <p:cNvPr name="TextBox 32" id="32"/>
          <p:cNvSpPr txBox="true"/>
          <p:nvPr/>
        </p:nvSpPr>
        <p:spPr>
          <a:xfrm rot="0">
            <a:off x="12627337" y="6643214"/>
            <a:ext cx="3660648" cy="466476"/>
          </a:xfrm>
          <a:prstGeom prst="rect">
            <a:avLst/>
          </a:prstGeom>
        </p:spPr>
        <p:txBody>
          <a:bodyPr anchor="t" rtlCol="false" tIns="0" lIns="0" bIns="0" rIns="0">
            <a:spAutoFit/>
          </a:bodyPr>
          <a:lstStyle/>
          <a:p>
            <a:pPr algn="ctr" marL="0" indent="0" lvl="0">
              <a:lnSpc>
                <a:spcPts val="3688"/>
              </a:lnSpc>
              <a:spcBef>
                <a:spcPct val="0"/>
              </a:spcBef>
            </a:pPr>
            <a:r>
              <a:rPr lang="en-US" b="true" sz="2634" spc="131">
                <a:solidFill>
                  <a:srgbClr val="FFFFFF"/>
                </a:solidFill>
                <a:latin typeface="Ubuntu Bold"/>
                <a:ea typeface="Ubuntu Bold"/>
                <a:cs typeface="Ubuntu Bold"/>
                <a:sym typeface="Ubuntu Bold"/>
              </a:rPr>
              <a:t>INTERACTIVE PANEL</a:t>
            </a:r>
          </a:p>
        </p:txBody>
      </p:sp>
      <p:sp>
        <p:nvSpPr>
          <p:cNvPr name="TextBox 33" id="33"/>
          <p:cNvSpPr txBox="true"/>
          <p:nvPr/>
        </p:nvSpPr>
        <p:spPr>
          <a:xfrm rot="0">
            <a:off x="1028700" y="799996"/>
            <a:ext cx="17079400" cy="1657350"/>
          </a:xfrm>
          <a:prstGeom prst="rect">
            <a:avLst/>
          </a:prstGeom>
        </p:spPr>
        <p:txBody>
          <a:bodyPr anchor="t" rtlCol="false" tIns="0" lIns="0" bIns="0" rIns="0">
            <a:spAutoFit/>
          </a:bodyPr>
          <a:lstStyle/>
          <a:p>
            <a:pPr algn="ctr" marL="0" indent="0" lvl="0">
              <a:lnSpc>
                <a:spcPts val="6572"/>
              </a:lnSpc>
              <a:spcBef>
                <a:spcPct val="0"/>
              </a:spcBef>
            </a:pPr>
            <a:r>
              <a:rPr lang="en-US" sz="5477" spc="109">
                <a:solidFill>
                  <a:srgbClr val="FFFFFF"/>
                </a:solidFill>
                <a:latin typeface="Archivo Black"/>
                <a:ea typeface="Archivo Black"/>
                <a:cs typeface="Archivo Black"/>
                <a:sym typeface="Archivo Black"/>
              </a:rPr>
              <a:t>ZONAL ARCHITECTURE: DIVIDE &amp; CONQUER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6034605"/>
            <a:ext cx="2877910" cy="431975"/>
          </a:xfrm>
          <a:prstGeom prst="rect">
            <a:avLst/>
          </a:prstGeom>
        </p:spPr>
        <p:txBody>
          <a:bodyPr anchor="t" rtlCol="false" tIns="0" lIns="0" bIns="0" rIns="0">
            <a:spAutoFit/>
          </a:bodyPr>
          <a:lstStyle/>
          <a:p>
            <a:pPr algn="ctr" marL="0" indent="0" lvl="0">
              <a:lnSpc>
                <a:spcPts val="3449"/>
              </a:lnSpc>
              <a:spcBef>
                <a:spcPct val="0"/>
              </a:spcBef>
            </a:pPr>
            <a:r>
              <a:rPr lang="en-US" sz="2464" spc="49" strike="noStrike" u="none">
                <a:solidFill>
                  <a:srgbClr val="FDFDFD"/>
                </a:solidFill>
                <a:latin typeface="Ubuntu"/>
                <a:ea typeface="Ubuntu"/>
                <a:cs typeface="Ubuntu"/>
                <a:sym typeface="Ubuntu"/>
              </a:rPr>
              <a:t>Ingress Cores</a:t>
            </a:r>
          </a:p>
        </p:txBody>
      </p:sp>
      <p:sp>
        <p:nvSpPr>
          <p:cNvPr name="TextBox 4" id="4"/>
          <p:cNvSpPr txBox="true"/>
          <p:nvPr/>
        </p:nvSpPr>
        <p:spPr>
          <a:xfrm rot="0">
            <a:off x="1028700" y="4814784"/>
            <a:ext cx="2877910" cy="591083"/>
          </a:xfrm>
          <a:prstGeom prst="rect">
            <a:avLst/>
          </a:prstGeom>
        </p:spPr>
        <p:txBody>
          <a:bodyPr anchor="t" rtlCol="false" tIns="0" lIns="0" bIns="0" rIns="0">
            <a:spAutoFit/>
          </a:bodyPr>
          <a:lstStyle/>
          <a:p>
            <a:pPr algn="ctr" marL="0" indent="0" lvl="0">
              <a:lnSpc>
                <a:spcPts val="4766"/>
              </a:lnSpc>
              <a:spcBef>
                <a:spcPct val="0"/>
              </a:spcBef>
            </a:pPr>
            <a:r>
              <a:rPr lang="en-US" sz="3404" spc="68" strike="noStrike" u="none">
                <a:solidFill>
                  <a:srgbClr val="FDFDFD"/>
                </a:solidFill>
                <a:latin typeface="Archivo Black"/>
                <a:ea typeface="Archivo Black"/>
                <a:cs typeface="Archivo Black"/>
                <a:sym typeface="Archivo Black"/>
              </a:rPr>
              <a:t>0-3</a:t>
            </a:r>
          </a:p>
        </p:txBody>
      </p:sp>
      <p:pic>
        <p:nvPicPr>
          <p:cNvPr name="Picture 5" id="5"/>
          <p:cNvPicPr>
            <a:picLocks noChangeAspect="true"/>
          </p:cNvPicPr>
          <p:nvPr/>
        </p:nvPicPr>
        <p:blipFill>
          <a:blip r:embed="rId3"/>
          <a:stretch>
            <a:fillRect/>
          </a:stretch>
        </p:blipFill>
        <p:spPr>
          <a:xfrm rot="0">
            <a:off x="8611023" y="1460729"/>
            <a:ext cx="9434484" cy="8569268"/>
          </a:xfrm>
          <a:prstGeom prst="rect">
            <a:avLst/>
          </a:prstGeom>
        </p:spPr>
      </p:pic>
      <p:sp>
        <p:nvSpPr>
          <p:cNvPr name="TextBox 6" id="6"/>
          <p:cNvSpPr txBox="true"/>
          <p:nvPr/>
        </p:nvSpPr>
        <p:spPr>
          <a:xfrm rot="0">
            <a:off x="1028700" y="2761346"/>
            <a:ext cx="7600710" cy="1481505"/>
          </a:xfrm>
          <a:prstGeom prst="rect">
            <a:avLst/>
          </a:prstGeom>
        </p:spPr>
        <p:txBody>
          <a:bodyPr anchor="t" rtlCol="false" tIns="0" lIns="0" bIns="0" rIns="0">
            <a:spAutoFit/>
          </a:bodyPr>
          <a:lstStyle/>
          <a:p>
            <a:pPr algn="just" marL="0" indent="0" lvl="0">
              <a:lnSpc>
                <a:spcPts val="3917"/>
              </a:lnSpc>
              <a:spcBef>
                <a:spcPct val="0"/>
              </a:spcBef>
            </a:pPr>
            <a:r>
              <a:rPr lang="en-US" sz="2798" spc="55">
                <a:solidFill>
                  <a:srgbClr val="FDFDFD"/>
                </a:solidFill>
                <a:latin typeface="Ubuntu"/>
                <a:ea typeface="Ubuntu"/>
                <a:cs typeface="Ubuntu"/>
                <a:sym typeface="Ubuntu"/>
              </a:rPr>
              <a:t>Hardware orchestration with explicit core allocation ensuring deterministic performance and zero cache thrashing.</a:t>
            </a:r>
          </a:p>
        </p:txBody>
      </p:sp>
      <p:sp>
        <p:nvSpPr>
          <p:cNvPr name="TextBox 7" id="7"/>
          <p:cNvSpPr txBox="true"/>
          <p:nvPr/>
        </p:nvSpPr>
        <p:spPr>
          <a:xfrm rot="0">
            <a:off x="4793704" y="6034605"/>
            <a:ext cx="2877910" cy="431974"/>
          </a:xfrm>
          <a:prstGeom prst="rect">
            <a:avLst/>
          </a:prstGeom>
        </p:spPr>
        <p:txBody>
          <a:bodyPr anchor="t" rtlCol="false" tIns="0" lIns="0" bIns="0" rIns="0">
            <a:spAutoFit/>
          </a:bodyPr>
          <a:lstStyle/>
          <a:p>
            <a:pPr algn="ctr" marL="0" indent="0" lvl="0">
              <a:lnSpc>
                <a:spcPts val="3449"/>
              </a:lnSpc>
              <a:spcBef>
                <a:spcPct val="0"/>
              </a:spcBef>
            </a:pPr>
            <a:r>
              <a:rPr lang="en-US" sz="2464" spc="49" strike="noStrike" u="none">
                <a:solidFill>
                  <a:srgbClr val="FDFDFD"/>
                </a:solidFill>
                <a:latin typeface="Ubuntu"/>
                <a:ea typeface="Ubuntu"/>
                <a:cs typeface="Ubuntu"/>
                <a:sym typeface="Ubuntu"/>
              </a:rPr>
              <a:t>Fusion Cores</a:t>
            </a:r>
          </a:p>
        </p:txBody>
      </p:sp>
      <p:sp>
        <p:nvSpPr>
          <p:cNvPr name="TextBox 8" id="8"/>
          <p:cNvSpPr txBox="true"/>
          <p:nvPr/>
        </p:nvSpPr>
        <p:spPr>
          <a:xfrm rot="0">
            <a:off x="4793704" y="4814784"/>
            <a:ext cx="2877910" cy="591083"/>
          </a:xfrm>
          <a:prstGeom prst="rect">
            <a:avLst/>
          </a:prstGeom>
        </p:spPr>
        <p:txBody>
          <a:bodyPr anchor="t" rtlCol="false" tIns="0" lIns="0" bIns="0" rIns="0">
            <a:spAutoFit/>
          </a:bodyPr>
          <a:lstStyle/>
          <a:p>
            <a:pPr algn="ctr" marL="0" indent="0" lvl="0">
              <a:lnSpc>
                <a:spcPts val="4766"/>
              </a:lnSpc>
              <a:spcBef>
                <a:spcPct val="0"/>
              </a:spcBef>
            </a:pPr>
            <a:r>
              <a:rPr lang="en-US" sz="3404" spc="68" strike="noStrike" u="none">
                <a:solidFill>
                  <a:srgbClr val="FDFDFD"/>
                </a:solidFill>
                <a:latin typeface="Archivo Black"/>
                <a:ea typeface="Archivo Black"/>
                <a:cs typeface="Archivo Black"/>
                <a:sym typeface="Archivo Black"/>
              </a:rPr>
              <a:t>4-7</a:t>
            </a:r>
          </a:p>
        </p:txBody>
      </p:sp>
      <p:sp>
        <p:nvSpPr>
          <p:cNvPr name="TextBox 9" id="9"/>
          <p:cNvSpPr txBox="true"/>
          <p:nvPr/>
        </p:nvSpPr>
        <p:spPr>
          <a:xfrm rot="0">
            <a:off x="1028700" y="8363012"/>
            <a:ext cx="2877910" cy="431974"/>
          </a:xfrm>
          <a:prstGeom prst="rect">
            <a:avLst/>
          </a:prstGeom>
        </p:spPr>
        <p:txBody>
          <a:bodyPr anchor="t" rtlCol="false" tIns="0" lIns="0" bIns="0" rIns="0">
            <a:spAutoFit/>
          </a:bodyPr>
          <a:lstStyle/>
          <a:p>
            <a:pPr algn="ctr" marL="0" indent="0" lvl="0">
              <a:lnSpc>
                <a:spcPts val="3449"/>
              </a:lnSpc>
              <a:spcBef>
                <a:spcPct val="0"/>
              </a:spcBef>
            </a:pPr>
            <a:r>
              <a:rPr lang="en-US" sz="2464" spc="49" strike="noStrike" u="none">
                <a:solidFill>
                  <a:srgbClr val="FDFDFD"/>
                </a:solidFill>
                <a:latin typeface="Ubuntu"/>
                <a:ea typeface="Ubuntu"/>
                <a:cs typeface="Ubuntu"/>
                <a:sym typeface="Ubuntu"/>
              </a:rPr>
              <a:t>L3 Cache Efficiency</a:t>
            </a:r>
          </a:p>
        </p:txBody>
      </p:sp>
      <p:sp>
        <p:nvSpPr>
          <p:cNvPr name="TextBox 10" id="10"/>
          <p:cNvSpPr txBox="true"/>
          <p:nvPr/>
        </p:nvSpPr>
        <p:spPr>
          <a:xfrm rot="0">
            <a:off x="1028700" y="7143191"/>
            <a:ext cx="2877910" cy="591083"/>
          </a:xfrm>
          <a:prstGeom prst="rect">
            <a:avLst/>
          </a:prstGeom>
        </p:spPr>
        <p:txBody>
          <a:bodyPr anchor="t" rtlCol="false" tIns="0" lIns="0" bIns="0" rIns="0">
            <a:spAutoFit/>
          </a:bodyPr>
          <a:lstStyle/>
          <a:p>
            <a:pPr algn="ctr" marL="0" indent="0" lvl="0">
              <a:lnSpc>
                <a:spcPts val="4766"/>
              </a:lnSpc>
              <a:spcBef>
                <a:spcPct val="0"/>
              </a:spcBef>
            </a:pPr>
            <a:r>
              <a:rPr lang="en-US" sz="3404" spc="68" strike="noStrike" u="none">
                <a:solidFill>
                  <a:srgbClr val="FDFDFD"/>
                </a:solidFill>
                <a:latin typeface="Archivo Black"/>
                <a:ea typeface="Archivo Black"/>
                <a:cs typeface="Archivo Black"/>
                <a:sym typeface="Archivo Black"/>
              </a:rPr>
              <a:t>99.8%</a:t>
            </a:r>
          </a:p>
        </p:txBody>
      </p:sp>
      <p:sp>
        <p:nvSpPr>
          <p:cNvPr name="TextBox 11" id="11"/>
          <p:cNvSpPr txBox="true"/>
          <p:nvPr/>
        </p:nvSpPr>
        <p:spPr>
          <a:xfrm rot="0">
            <a:off x="4793704" y="8363012"/>
            <a:ext cx="2877910" cy="431974"/>
          </a:xfrm>
          <a:prstGeom prst="rect">
            <a:avLst/>
          </a:prstGeom>
        </p:spPr>
        <p:txBody>
          <a:bodyPr anchor="t" rtlCol="false" tIns="0" lIns="0" bIns="0" rIns="0">
            <a:spAutoFit/>
          </a:bodyPr>
          <a:lstStyle/>
          <a:p>
            <a:pPr algn="ctr" marL="0" indent="0" lvl="0">
              <a:lnSpc>
                <a:spcPts val="3449"/>
              </a:lnSpc>
              <a:spcBef>
                <a:spcPct val="0"/>
              </a:spcBef>
            </a:pPr>
            <a:r>
              <a:rPr lang="en-US" sz="2464" spc="49" strike="noStrike" u="none">
                <a:solidFill>
                  <a:srgbClr val="FDFDFD"/>
                </a:solidFill>
                <a:latin typeface="Ubuntu"/>
                <a:ea typeface="Ubuntu"/>
                <a:cs typeface="Ubuntu"/>
                <a:sym typeface="Ubuntu"/>
              </a:rPr>
              <a:t>Cache Thrashing</a:t>
            </a:r>
          </a:p>
        </p:txBody>
      </p:sp>
      <p:sp>
        <p:nvSpPr>
          <p:cNvPr name="TextBox 12" id="12"/>
          <p:cNvSpPr txBox="true"/>
          <p:nvPr/>
        </p:nvSpPr>
        <p:spPr>
          <a:xfrm rot="0">
            <a:off x="4793704" y="7143191"/>
            <a:ext cx="2877910" cy="591083"/>
          </a:xfrm>
          <a:prstGeom prst="rect">
            <a:avLst/>
          </a:prstGeom>
        </p:spPr>
        <p:txBody>
          <a:bodyPr anchor="t" rtlCol="false" tIns="0" lIns="0" bIns="0" rIns="0">
            <a:spAutoFit/>
          </a:bodyPr>
          <a:lstStyle/>
          <a:p>
            <a:pPr algn="ctr" marL="0" indent="0" lvl="0">
              <a:lnSpc>
                <a:spcPts val="4766"/>
              </a:lnSpc>
              <a:spcBef>
                <a:spcPct val="0"/>
              </a:spcBef>
            </a:pPr>
            <a:r>
              <a:rPr lang="en-US" sz="3404" spc="68" strike="noStrike" u="none">
                <a:solidFill>
                  <a:srgbClr val="FDFDFD"/>
                </a:solidFill>
                <a:latin typeface="Archivo Black"/>
                <a:ea typeface="Archivo Black"/>
                <a:cs typeface="Archivo Black"/>
                <a:sym typeface="Archivo Black"/>
              </a:rPr>
              <a:t>0%</a:t>
            </a:r>
          </a:p>
        </p:txBody>
      </p:sp>
      <p:sp>
        <p:nvSpPr>
          <p:cNvPr name="TextBox 13" id="13"/>
          <p:cNvSpPr txBox="true"/>
          <p:nvPr/>
        </p:nvSpPr>
        <p:spPr>
          <a:xfrm rot="0">
            <a:off x="1028700" y="1019175"/>
            <a:ext cx="11567643" cy="1323975"/>
          </a:xfrm>
          <a:prstGeom prst="rect">
            <a:avLst/>
          </a:prstGeom>
        </p:spPr>
        <p:txBody>
          <a:bodyPr anchor="t" rtlCol="false" tIns="0" lIns="0" bIns="0" rIns="0">
            <a:spAutoFit/>
          </a:bodyPr>
          <a:lstStyle/>
          <a:p>
            <a:pPr algn="l" marL="0" indent="0" lvl="0">
              <a:lnSpc>
                <a:spcPts val="5246"/>
              </a:lnSpc>
              <a:spcBef>
                <a:spcPct val="0"/>
              </a:spcBef>
            </a:pPr>
            <a:r>
              <a:rPr lang="en-US" sz="4371" spc="87">
                <a:solidFill>
                  <a:srgbClr val="FFFFFF"/>
                </a:solidFill>
                <a:latin typeface="Archivo Black"/>
                <a:ea typeface="Archivo Black"/>
                <a:cs typeface="Archivo Black"/>
                <a:sym typeface="Archivo Black"/>
              </a:rPr>
              <a:t>8-CORE PERFORMANCE PARTITIONING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TextBox 3" id="3"/>
          <p:cNvSpPr txBox="true"/>
          <p:nvPr/>
        </p:nvSpPr>
        <p:spPr>
          <a:xfrm rot="0">
            <a:off x="1028700" y="5153025"/>
            <a:ext cx="2755263"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DRY SCENARIO</a:t>
            </a:r>
          </a:p>
        </p:txBody>
      </p:sp>
      <p:sp>
        <p:nvSpPr>
          <p:cNvPr name="TextBox 4" id="4"/>
          <p:cNvSpPr txBox="true"/>
          <p:nvPr/>
        </p:nvSpPr>
        <p:spPr>
          <a:xfrm rot="0">
            <a:off x="9390107" y="5153025"/>
            <a:ext cx="3264238" cy="399074"/>
          </a:xfrm>
          <a:prstGeom prst="rect">
            <a:avLst/>
          </a:prstGeom>
        </p:spPr>
        <p:txBody>
          <a:bodyPr anchor="t" rtlCol="false" tIns="0" lIns="0" bIns="0" rIns="0">
            <a:spAutoFit/>
          </a:bodyPr>
          <a:lstStyle/>
          <a:p>
            <a:pPr algn="l" marL="0" indent="0" lvl="0">
              <a:lnSpc>
                <a:spcPts val="3042"/>
              </a:lnSpc>
            </a:pPr>
            <a:r>
              <a:rPr lang="en-US" b="true" sz="2716" spc="135">
                <a:solidFill>
                  <a:srgbClr val="FFFFFF"/>
                </a:solidFill>
                <a:latin typeface="Ubuntu Bold"/>
                <a:ea typeface="Ubuntu Bold"/>
                <a:cs typeface="Ubuntu Bold"/>
                <a:sym typeface="Ubuntu Bold"/>
              </a:rPr>
              <a:t>RAIN SCENARIO</a:t>
            </a:r>
          </a:p>
        </p:txBody>
      </p:sp>
      <p:sp>
        <p:nvSpPr>
          <p:cNvPr name="TextBox 5" id="5"/>
          <p:cNvSpPr txBox="true"/>
          <p:nvPr/>
        </p:nvSpPr>
        <p:spPr>
          <a:xfrm rot="0">
            <a:off x="1028700" y="6057456"/>
            <a:ext cx="6528477" cy="3200891"/>
          </a:xfrm>
          <a:prstGeom prst="rect">
            <a:avLst/>
          </a:prstGeom>
        </p:spPr>
        <p:txBody>
          <a:bodyPr anchor="t" rtlCol="false" tIns="0" lIns="0" bIns="0" rIns="0">
            <a:spAutoFit/>
          </a:bodyPr>
          <a:lstStyle/>
          <a:p>
            <a:pPr algn="just" marL="0" indent="0" lvl="0">
              <a:lnSpc>
                <a:spcPts val="3647"/>
              </a:lnSpc>
              <a:spcBef>
                <a:spcPct val="0"/>
              </a:spcBef>
            </a:pPr>
            <a:r>
              <a:rPr lang="en-US" sz="2605" spc="52">
                <a:solidFill>
                  <a:srgbClr val="FFFFFF"/>
                </a:solidFill>
                <a:latin typeface="Ubuntu"/>
                <a:ea typeface="Ubuntu"/>
                <a:cs typeface="Ubuntu"/>
                <a:sym typeface="Ubuntu"/>
              </a:rPr>
              <a:t>Vision Confidence: 0.90</a:t>
            </a:r>
          </a:p>
          <a:p>
            <a:pPr algn="just" marL="0" indent="0" lvl="0">
              <a:lnSpc>
                <a:spcPts val="3647"/>
              </a:lnSpc>
              <a:spcBef>
                <a:spcPct val="0"/>
              </a:spcBef>
            </a:pPr>
            <a:r>
              <a:rPr lang="en-US" sz="2605" spc="52">
                <a:solidFill>
                  <a:srgbClr val="FFFFFF"/>
                </a:solidFill>
                <a:latin typeface="Ubuntu"/>
                <a:ea typeface="Ubuntu"/>
                <a:cs typeface="Ubuntu"/>
                <a:sym typeface="Ubuntu"/>
              </a:rPr>
              <a:t>Radar Confidence: 0.80</a:t>
            </a:r>
          </a:p>
          <a:p>
            <a:pPr algn="just" marL="0" indent="0" lvl="0">
              <a:lnSpc>
                <a:spcPts val="3647"/>
              </a:lnSpc>
              <a:spcBef>
                <a:spcPct val="0"/>
              </a:spcBef>
            </a:pPr>
            <a:r>
              <a:rPr lang="en-US" sz="2605" spc="52">
                <a:solidFill>
                  <a:srgbClr val="FFFFFF"/>
                </a:solidFill>
                <a:latin typeface="Ubuntu"/>
                <a:ea typeface="Ubuntu"/>
                <a:cs typeface="Ubuntu"/>
                <a:sym typeface="Ubuntu"/>
              </a:rPr>
              <a:t>Both sensors detect obstacle with high reliability. Fused confidence yields strong detection certainty. Trust weights balanced between Vision and Radar inputs.</a:t>
            </a:r>
          </a:p>
        </p:txBody>
      </p:sp>
      <p:sp>
        <p:nvSpPr>
          <p:cNvPr name="TextBox 6" id="6"/>
          <p:cNvSpPr txBox="true"/>
          <p:nvPr/>
        </p:nvSpPr>
        <p:spPr>
          <a:xfrm rot="0">
            <a:off x="9390107" y="6057456"/>
            <a:ext cx="6528477" cy="2743691"/>
          </a:xfrm>
          <a:prstGeom prst="rect">
            <a:avLst/>
          </a:prstGeom>
        </p:spPr>
        <p:txBody>
          <a:bodyPr anchor="t" rtlCol="false" tIns="0" lIns="0" bIns="0" rIns="0">
            <a:spAutoFit/>
          </a:bodyPr>
          <a:lstStyle/>
          <a:p>
            <a:pPr algn="just" marL="0" indent="0" lvl="0">
              <a:lnSpc>
                <a:spcPts val="3647"/>
              </a:lnSpc>
              <a:spcBef>
                <a:spcPct val="0"/>
              </a:spcBef>
            </a:pPr>
            <a:r>
              <a:rPr lang="en-US" sz="2605" spc="52">
                <a:solidFill>
                  <a:srgbClr val="FFFFFF"/>
                </a:solidFill>
                <a:latin typeface="Ubuntu"/>
                <a:ea typeface="Ubuntu"/>
                <a:cs typeface="Ubuntu"/>
                <a:sym typeface="Ubuntu"/>
              </a:rPr>
              <a:t>Vision Confidence: 0.40</a:t>
            </a:r>
          </a:p>
          <a:p>
            <a:pPr algn="just" marL="0" indent="0" lvl="0">
              <a:lnSpc>
                <a:spcPts val="3647"/>
              </a:lnSpc>
              <a:spcBef>
                <a:spcPct val="0"/>
              </a:spcBef>
            </a:pPr>
            <a:r>
              <a:rPr lang="en-US" sz="2605" spc="52">
                <a:solidFill>
                  <a:srgbClr val="FFFFFF"/>
                </a:solidFill>
                <a:latin typeface="Ubuntu"/>
                <a:ea typeface="Ubuntu"/>
                <a:cs typeface="Ubuntu"/>
                <a:sym typeface="Ubuntu"/>
              </a:rPr>
              <a:t>Radar Confidence: 0.95</a:t>
            </a:r>
          </a:p>
          <a:p>
            <a:pPr algn="just" marL="0" indent="0" lvl="0">
              <a:lnSpc>
                <a:spcPts val="3647"/>
              </a:lnSpc>
              <a:spcBef>
                <a:spcPct val="0"/>
              </a:spcBef>
            </a:pPr>
            <a:r>
              <a:rPr lang="en-US" sz="2605" spc="52">
                <a:solidFill>
                  <a:srgbClr val="FFFFFF"/>
                </a:solidFill>
                <a:latin typeface="Ubuntu"/>
                <a:ea typeface="Ubuntu"/>
                <a:cs typeface="Ubuntu"/>
                <a:sym typeface="Ubuntu"/>
              </a:rPr>
              <a:t>Rain degrades camera visibility. Dynamic trust algorithm shifts weight to Radar. Fused output maintains high confidence through adaptive sensor prioritization.</a:t>
            </a:r>
          </a:p>
        </p:txBody>
      </p:sp>
      <p:sp>
        <p:nvSpPr>
          <p:cNvPr name="TextBox 7" id="7"/>
          <p:cNvSpPr txBox="true"/>
          <p:nvPr/>
        </p:nvSpPr>
        <p:spPr>
          <a:xfrm rot="0">
            <a:off x="1028700" y="1019175"/>
            <a:ext cx="11567643" cy="2676525"/>
          </a:xfrm>
          <a:prstGeom prst="rect">
            <a:avLst/>
          </a:prstGeom>
        </p:spPr>
        <p:txBody>
          <a:bodyPr anchor="t" rtlCol="false" tIns="0" lIns="0" bIns="0" rIns="0">
            <a:spAutoFit/>
          </a:bodyPr>
          <a:lstStyle/>
          <a:p>
            <a:pPr algn="l" marL="0" indent="0" lvl="0">
              <a:lnSpc>
                <a:spcPts val="10552"/>
              </a:lnSpc>
              <a:spcBef>
                <a:spcPct val="0"/>
              </a:spcBef>
            </a:pPr>
            <a:r>
              <a:rPr lang="en-US" sz="8793" spc="175">
                <a:solidFill>
                  <a:srgbClr val="FFFFFF"/>
                </a:solidFill>
                <a:latin typeface="Archivo Black"/>
                <a:ea typeface="Archivo Black"/>
                <a:cs typeface="Archivo Black"/>
                <a:sym typeface="Archivo Black"/>
              </a:rPr>
              <a:t>ALGORITHMIC FUSION &amp; TRUST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10124523" y="2740488"/>
            <a:ext cx="7447124" cy="5585343"/>
          </a:xfrm>
          <a:custGeom>
            <a:avLst/>
            <a:gdLst/>
            <a:ahLst/>
            <a:cxnLst/>
            <a:rect r="r" b="b" t="t" l="l"/>
            <a:pathLst>
              <a:path h="5585343" w="7447124">
                <a:moveTo>
                  <a:pt x="0" y="0"/>
                </a:moveTo>
                <a:lnTo>
                  <a:pt x="7447124" y="0"/>
                </a:lnTo>
                <a:lnTo>
                  <a:pt x="7447124" y="5585344"/>
                </a:lnTo>
                <a:lnTo>
                  <a:pt x="0" y="5585344"/>
                </a:lnTo>
                <a:lnTo>
                  <a:pt x="0" y="0"/>
                </a:lnTo>
                <a:close/>
              </a:path>
            </a:pathLst>
          </a:custGeom>
          <a:blipFill>
            <a:blip r:embed="rId3"/>
            <a:stretch>
              <a:fillRect l="0" t="0" r="0" b="0"/>
            </a:stretch>
          </a:blipFill>
        </p:spPr>
      </p:sp>
      <p:sp>
        <p:nvSpPr>
          <p:cNvPr name="Freeform 4" id="4"/>
          <p:cNvSpPr/>
          <p:nvPr/>
        </p:nvSpPr>
        <p:spPr>
          <a:xfrm flipH="false" flipV="false" rot="0">
            <a:off x="1028700" y="2878551"/>
            <a:ext cx="8473780" cy="5309219"/>
          </a:xfrm>
          <a:custGeom>
            <a:avLst/>
            <a:gdLst/>
            <a:ahLst/>
            <a:cxnLst/>
            <a:rect r="r" b="b" t="t" l="l"/>
            <a:pathLst>
              <a:path h="5309219" w="8473780">
                <a:moveTo>
                  <a:pt x="0" y="0"/>
                </a:moveTo>
                <a:lnTo>
                  <a:pt x="8473780" y="0"/>
                </a:lnTo>
                <a:lnTo>
                  <a:pt x="8473780" y="5309218"/>
                </a:lnTo>
                <a:lnTo>
                  <a:pt x="0" y="5309218"/>
                </a:lnTo>
                <a:lnTo>
                  <a:pt x="0" y="0"/>
                </a:lnTo>
                <a:close/>
              </a:path>
            </a:pathLst>
          </a:custGeom>
          <a:blipFill>
            <a:blip r:embed="rId4"/>
            <a:stretch>
              <a:fillRect l="0" t="0" r="-11440" b="0"/>
            </a:stretch>
          </a:blipFill>
        </p:spPr>
      </p:sp>
      <p:sp>
        <p:nvSpPr>
          <p:cNvPr name="TextBox 5" id="5"/>
          <p:cNvSpPr txBox="true"/>
          <p:nvPr/>
        </p:nvSpPr>
        <p:spPr>
          <a:xfrm rot="0">
            <a:off x="1028700" y="735206"/>
            <a:ext cx="12573938" cy="1095375"/>
          </a:xfrm>
          <a:prstGeom prst="rect">
            <a:avLst/>
          </a:prstGeom>
        </p:spPr>
        <p:txBody>
          <a:bodyPr anchor="t" rtlCol="false" tIns="0" lIns="0" bIns="0" rIns="0">
            <a:spAutoFit/>
          </a:bodyPr>
          <a:lstStyle/>
          <a:p>
            <a:pPr algn="l" marL="0" indent="0" lvl="0">
              <a:lnSpc>
                <a:spcPts val="8512"/>
              </a:lnSpc>
              <a:spcBef>
                <a:spcPct val="0"/>
              </a:spcBef>
            </a:pPr>
            <a:r>
              <a:rPr lang="en-US" sz="7094" spc="141">
                <a:solidFill>
                  <a:srgbClr val="FFFFFF"/>
                </a:solidFill>
                <a:latin typeface="Archivo Black"/>
                <a:ea typeface="Archivo Black"/>
                <a:cs typeface="Archivo Black"/>
                <a:sym typeface="Archivo Black"/>
              </a:rPr>
              <a:t>RT-LINUX V/S QNX RTOS</a:t>
            </a:r>
          </a:p>
        </p:txBody>
      </p:sp>
      <p:sp>
        <p:nvSpPr>
          <p:cNvPr name="TextBox 6" id="6"/>
          <p:cNvSpPr txBox="true"/>
          <p:nvPr/>
        </p:nvSpPr>
        <p:spPr>
          <a:xfrm rot="0">
            <a:off x="10124523" y="8259157"/>
            <a:ext cx="7447124" cy="466476"/>
          </a:xfrm>
          <a:prstGeom prst="rect">
            <a:avLst/>
          </a:prstGeom>
        </p:spPr>
        <p:txBody>
          <a:bodyPr anchor="t" rtlCol="false" tIns="0" lIns="0" bIns="0" rIns="0">
            <a:spAutoFit/>
          </a:bodyPr>
          <a:lstStyle/>
          <a:p>
            <a:pPr algn="ctr">
              <a:lnSpc>
                <a:spcPts val="3688"/>
              </a:lnSpc>
              <a:spcBef>
                <a:spcPct val="0"/>
              </a:spcBef>
            </a:pPr>
            <a:r>
              <a:rPr lang="en-US" b="true" sz="2634" spc="131">
                <a:solidFill>
                  <a:srgbClr val="FFFFFF"/>
                </a:solidFill>
                <a:latin typeface="Ubuntu Bold"/>
                <a:ea typeface="Ubuntu Bold"/>
                <a:cs typeface="Ubuntu Bold"/>
                <a:sym typeface="Ubuntu Bold"/>
              </a:rPr>
              <a:t>RT-LINUX</a:t>
            </a:r>
          </a:p>
        </p:txBody>
      </p:sp>
      <p:sp>
        <p:nvSpPr>
          <p:cNvPr name="TextBox 7" id="7"/>
          <p:cNvSpPr txBox="true"/>
          <p:nvPr/>
        </p:nvSpPr>
        <p:spPr>
          <a:xfrm rot="0">
            <a:off x="1401480" y="8259157"/>
            <a:ext cx="7447124" cy="466476"/>
          </a:xfrm>
          <a:prstGeom prst="rect">
            <a:avLst/>
          </a:prstGeom>
        </p:spPr>
        <p:txBody>
          <a:bodyPr anchor="t" rtlCol="false" tIns="0" lIns="0" bIns="0" rIns="0">
            <a:spAutoFit/>
          </a:bodyPr>
          <a:lstStyle/>
          <a:p>
            <a:pPr algn="ctr">
              <a:lnSpc>
                <a:spcPts val="3688"/>
              </a:lnSpc>
              <a:spcBef>
                <a:spcPct val="0"/>
              </a:spcBef>
            </a:pPr>
            <a:r>
              <a:rPr lang="en-US" b="true" sz="2634" spc="131">
                <a:solidFill>
                  <a:srgbClr val="FFFFFF"/>
                </a:solidFill>
                <a:latin typeface="Ubuntu Bold"/>
                <a:ea typeface="Ubuntu Bold"/>
                <a:cs typeface="Ubuntu Bold"/>
                <a:sym typeface="Ubuntu Bold"/>
              </a:rPr>
              <a:t>QNX RTOS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TextBox 3" id="3"/>
          <p:cNvSpPr txBox="true"/>
          <p:nvPr/>
        </p:nvSpPr>
        <p:spPr>
          <a:xfrm rot="0">
            <a:off x="1456248" y="1769595"/>
            <a:ext cx="14600988" cy="377925"/>
          </a:xfrm>
          <a:prstGeom prst="rect">
            <a:avLst/>
          </a:prstGeom>
        </p:spPr>
        <p:txBody>
          <a:bodyPr anchor="t" rtlCol="false" tIns="0" lIns="0" bIns="0" rIns="0">
            <a:spAutoFit/>
          </a:bodyPr>
          <a:lstStyle/>
          <a:p>
            <a:pPr algn="ctr">
              <a:lnSpc>
                <a:spcPts val="2955"/>
              </a:lnSpc>
              <a:spcBef>
                <a:spcPct val="0"/>
              </a:spcBef>
            </a:pPr>
            <a:r>
              <a:rPr lang="en-US" sz="2639" spc="131">
                <a:solidFill>
                  <a:srgbClr val="FFFFFF"/>
                </a:solidFill>
                <a:latin typeface="League Spartan"/>
                <a:ea typeface="League Spartan"/>
                <a:cs typeface="League Spartan"/>
                <a:sym typeface="League Spartan"/>
              </a:rPr>
              <a:t>OUTPUTS OF ALL THE VERSIONS HAVE BEEN UPLOADED IN THE GITHUB REPO :</a:t>
            </a:r>
          </a:p>
        </p:txBody>
      </p:sp>
      <p:sp>
        <p:nvSpPr>
          <p:cNvPr name="TextBox 4" id="4"/>
          <p:cNvSpPr txBox="true"/>
          <p:nvPr/>
        </p:nvSpPr>
        <p:spPr>
          <a:xfrm rot="0">
            <a:off x="9139238" y="4948726"/>
            <a:ext cx="9525" cy="399074"/>
          </a:xfrm>
          <a:prstGeom prst="rect">
            <a:avLst/>
          </a:prstGeom>
        </p:spPr>
        <p:txBody>
          <a:bodyPr anchor="t" rtlCol="false" tIns="0" lIns="0" bIns="0" rIns="0">
            <a:spAutoFit/>
          </a:bodyPr>
          <a:lstStyle/>
          <a:p>
            <a:pPr algn="ctr">
              <a:lnSpc>
                <a:spcPts val="3042"/>
              </a:lnSpc>
              <a:spcBef>
                <a:spcPct val="0"/>
              </a:spcBef>
            </a:pPr>
          </a:p>
        </p:txBody>
      </p:sp>
      <p:sp>
        <p:nvSpPr>
          <p:cNvPr name="TextBox 5" id="5"/>
          <p:cNvSpPr txBox="true"/>
          <p:nvPr/>
        </p:nvSpPr>
        <p:spPr>
          <a:xfrm rot="0">
            <a:off x="3007159" y="3389478"/>
            <a:ext cx="11154727" cy="317289"/>
          </a:xfrm>
          <a:prstGeom prst="rect">
            <a:avLst/>
          </a:prstGeom>
        </p:spPr>
        <p:txBody>
          <a:bodyPr anchor="t" rtlCol="false" tIns="0" lIns="0" bIns="0" rIns="0">
            <a:spAutoFit/>
          </a:bodyPr>
          <a:lstStyle/>
          <a:p>
            <a:pPr algn="ctr">
              <a:lnSpc>
                <a:spcPts val="2426"/>
              </a:lnSpc>
              <a:spcBef>
                <a:spcPct val="0"/>
              </a:spcBef>
            </a:pPr>
            <a:r>
              <a:rPr lang="en-US" b="true" sz="2166" spc="108" u="sng">
                <a:solidFill>
                  <a:srgbClr val="FFFFFF"/>
                </a:solidFill>
                <a:latin typeface="Glacial Indifference Bold"/>
                <a:ea typeface="Glacial Indifference Bold"/>
                <a:cs typeface="Glacial Indifference Bold"/>
                <a:sym typeface="Glacial Indifference Bold"/>
                <a:hlinkClick r:id="rId3" tooltip="https://github.com/pavanracharya/Q-eHack-2026/tree/main/OUTPUTS"/>
              </a:rPr>
              <a:t>HTTPS://GITHUB.COM/PAVANRACHARYA/Q-EHACK-2026/TREE/MAIN/OUTPUTS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TextBox 3" id="3"/>
          <p:cNvSpPr txBox="true"/>
          <p:nvPr/>
        </p:nvSpPr>
        <p:spPr>
          <a:xfrm rot="0">
            <a:off x="2000815" y="3461669"/>
            <a:ext cx="14286370" cy="2173849"/>
          </a:xfrm>
          <a:prstGeom prst="rect">
            <a:avLst/>
          </a:prstGeom>
        </p:spPr>
        <p:txBody>
          <a:bodyPr anchor="t" rtlCol="false" tIns="0" lIns="0" bIns="0" rIns="0">
            <a:spAutoFit/>
          </a:bodyPr>
          <a:lstStyle/>
          <a:p>
            <a:pPr algn="ctr" marL="0" indent="0" lvl="0">
              <a:lnSpc>
                <a:spcPts val="17731"/>
              </a:lnSpc>
            </a:pPr>
            <a:r>
              <a:rPr lang="en-US" sz="12665" spc="253">
                <a:solidFill>
                  <a:srgbClr val="FFFFFF"/>
                </a:solidFill>
                <a:latin typeface="Archivo Black"/>
                <a:ea typeface="Archivo Black"/>
                <a:cs typeface="Archivo Black"/>
                <a:sym typeface="Archivo Black"/>
              </a:rPr>
              <a:t>THANK YOU</a:t>
            </a:r>
          </a:p>
        </p:txBody>
      </p:sp>
      <p:sp>
        <p:nvSpPr>
          <p:cNvPr name="TextBox 4" id="4"/>
          <p:cNvSpPr txBox="true"/>
          <p:nvPr/>
        </p:nvSpPr>
        <p:spPr>
          <a:xfrm rot="0">
            <a:off x="5511010" y="1559965"/>
            <a:ext cx="7265979" cy="342918"/>
          </a:xfrm>
          <a:prstGeom prst="rect">
            <a:avLst/>
          </a:prstGeom>
        </p:spPr>
        <p:txBody>
          <a:bodyPr anchor="t" rtlCol="false" tIns="0" lIns="0" bIns="0" rIns="0">
            <a:spAutoFit/>
          </a:bodyPr>
          <a:lstStyle/>
          <a:p>
            <a:pPr algn="ctr" marL="0" indent="0" lvl="0">
              <a:lnSpc>
                <a:spcPts val="2774"/>
              </a:lnSpc>
            </a:pPr>
            <a:r>
              <a:rPr lang="en-US" sz="1874" spc="187">
                <a:solidFill>
                  <a:srgbClr val="FFFFFF"/>
                </a:solidFill>
                <a:latin typeface="Ubuntu"/>
                <a:ea typeface="Ubuntu"/>
                <a:cs typeface="Ubuntu"/>
                <a:sym typeface="Ubuntu"/>
              </a:rPr>
              <a:t>QNX ADAS: SENSOR DATA AGGREGTION SYSTEM</a:t>
            </a:r>
          </a:p>
        </p:txBody>
      </p:sp>
      <p:sp>
        <p:nvSpPr>
          <p:cNvPr name="AutoShape 5" id="5"/>
          <p:cNvSpPr/>
          <p:nvPr/>
        </p:nvSpPr>
        <p:spPr>
          <a:xfrm>
            <a:off x="7520940" y="6723083"/>
            <a:ext cx="3246120" cy="0"/>
          </a:xfrm>
          <a:prstGeom prst="line">
            <a:avLst/>
          </a:prstGeom>
          <a:ln cap="flat" w="95250">
            <a:solidFill>
              <a:srgbClr val="FFFFFF"/>
            </a:solidFill>
            <a:prstDash val="solid"/>
            <a:headEnd type="none" len="sm" w="sm"/>
            <a:tailEnd type="none" len="sm" w="sm"/>
          </a:ln>
        </p:spPr>
      </p:sp>
      <p:sp>
        <p:nvSpPr>
          <p:cNvPr name="AutoShape 6" id="6"/>
          <p:cNvSpPr/>
          <p:nvPr/>
        </p:nvSpPr>
        <p:spPr>
          <a:xfrm>
            <a:off x="7520940" y="2988733"/>
            <a:ext cx="3246120" cy="0"/>
          </a:xfrm>
          <a:prstGeom prst="line">
            <a:avLst/>
          </a:prstGeom>
          <a:ln cap="flat" w="95250">
            <a:solidFill>
              <a:srgbClr val="FFFFFF"/>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DAHGgMFNhwE</dc:identifier>
  <dcterms:modified xsi:type="dcterms:W3CDTF">2011-08-01T06:04:30Z</dcterms:modified>
  <cp:revision>1</cp:revision>
  <dc:title>Deterministic Data Architecture Blueprint</dc:title>
</cp:coreProperties>
</file>